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25"/>
  </p:notesMasterIdLst>
  <p:handoutMasterIdLst>
    <p:handoutMasterId r:id="rId26"/>
  </p:handoutMasterIdLst>
  <p:sldIdLst>
    <p:sldId id="318" r:id="rId2"/>
    <p:sldId id="281" r:id="rId3"/>
    <p:sldId id="322" r:id="rId4"/>
    <p:sldId id="337" r:id="rId5"/>
    <p:sldId id="312" r:id="rId6"/>
    <p:sldId id="338" r:id="rId7"/>
    <p:sldId id="319" r:id="rId8"/>
    <p:sldId id="321" r:id="rId9"/>
    <p:sldId id="320" r:id="rId10"/>
    <p:sldId id="324" r:id="rId11"/>
    <p:sldId id="325" r:id="rId12"/>
    <p:sldId id="323" r:id="rId13"/>
    <p:sldId id="326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6" r:id="rId22"/>
    <p:sldId id="334" r:id="rId23"/>
    <p:sldId id="335" r:id="rId24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71A"/>
    <a:srgbClr val="FDD000"/>
    <a:srgbClr val="E6E6E6"/>
    <a:srgbClr val="000000"/>
    <a:srgbClr val="D9D9D9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判断と演算のループを設計する</a:t>
            </a:r>
          </a:p>
          <a:p>
            <a:r>
              <a:rPr kumimoji="1" lang="ja-JP" altLang="en-US" sz="2000" dirty="0"/>
              <a:t>— AIエージェント活用の2つの事例 —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品質管理クラウドチーム　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dirty="0"/>
              <a:t>はじめに — 枠組み: 判断と演算</a:t>
            </a:r>
          </a:p>
          <a:p>
            <a:r>
              <a:rPr kumimoji="1" lang="ja-JP" altLang="en-US" sz="1600" dirty="0"/>
              <a:t>全体像 — 2つの仕組み</a:t>
            </a:r>
            <a:endParaRPr lang="ja-JP" altLang="en-US" dirty="0"/>
          </a:p>
          <a:p>
            <a:r>
              <a:rPr kumimoji="1" lang="ja-JP" altLang="en-US" sz="1600" dirty="0"/>
              <a:t>事例1: ドキュメントパイプライン</a:t>
            </a:r>
          </a:p>
          <a:p>
            <a:pPr lvl="1"/>
            <a:r>
              <a:rPr kumimoji="1" lang="ja-JP" altLang="en-US" sz="1600" dirty="0"/>
              <a:t>課題 / 判断 / 演算 / 効果</a:t>
            </a:r>
            <a:endParaRPr lang="ja-JP" altLang="en-US" dirty="0"/>
          </a:p>
          <a:p>
            <a:r>
              <a:rPr kumimoji="1" lang="ja-JP" altLang="en-US" sz="1600" dirty="0"/>
              <a:t>事例2: AIレビューワークフロー</a:t>
            </a:r>
          </a:p>
          <a:p>
            <a:pPr lvl="1"/>
            <a:r>
              <a:rPr kumimoji="1" lang="ja-JP" altLang="en-US" sz="1600" dirty="0"/>
              <a:t>課題 / 判断 / 演算 / 効果 / 制度</a:t>
            </a:r>
            <a:endParaRPr lang="ja-JP" altLang="en-US" dirty="0"/>
          </a:p>
          <a:p>
            <a:r>
              <a:rPr kumimoji="1" lang="ja-JP" altLang="en-US" sz="1600" dirty="0"/>
              <a:t>2つの事例が示すパターン</a:t>
            </a:r>
          </a:p>
          <a:p>
            <a:r>
              <a:rPr kumimoji="1" lang="ja-JP" altLang="en-US" sz="1600" dirty="0"/>
              <a:t>結び / 将来の展望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今日話すこと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とは誰か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何を問うか・何を採るかを引き受けること</a:t>
            </a:r>
            <a:endParaRPr kumimoji="1" lang="en-US" altLang="ja-JP" sz="1600" dirty="0"/>
          </a:p>
          <a:p>
            <a:pPr lvl="1"/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dirty="0"/>
              <a:t>AI</a:t>
            </a:r>
            <a:r>
              <a:rPr lang="ja-JP" altLang="en-US" sz="1600" dirty="0"/>
              <a:t>の圧倒的な演算力を前に、人間が判断の重要性を見失う」</a:t>
            </a:r>
            <a:br>
              <a:rPr lang="en-US" altLang="ja-JP" sz="1600" dirty="0"/>
            </a:br>
            <a:r>
              <a:rPr lang="ja-JP" altLang="en-US" sz="1600" dirty="0"/>
              <a:t>ことを危惧していた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83A0CFA-A09A-3A63-F9FF-6345B2CAD6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92" y="980728"/>
            <a:ext cx="2324708" cy="2905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lang="ja-JP" altLang="en-US" sz="2800" b="1" dirty="0"/>
              <a:t>本日の主張:</a:t>
            </a:r>
            <a:endParaRPr lang="en-US" altLang="ja-JP" sz="2800" b="1" dirty="0"/>
          </a:p>
          <a:p>
            <a:endParaRPr lang="ja-JP" altLang="en-US" sz="28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800" dirty="0"/>
              <a:t>設計👷↓↓↓</a:t>
            </a:r>
            <a:br>
              <a:rPr lang="en-US" altLang="ja-JP" sz="2800" dirty="0"/>
            </a:br>
            <a:r>
              <a:rPr lang="ja-JP" altLang="en-US" sz="2800" dirty="0"/>
              <a:t>「</a:t>
            </a:r>
            <a:r>
              <a:rPr lang="ja-JP" altLang="en-US" sz="20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特にレビューでは、「現在の判断」だけでなく</a:t>
            </a:r>
            <a:br>
              <a:rPr lang="en-US" altLang="ja-JP" sz="2000" dirty="0"/>
            </a:br>
            <a:r>
              <a:rPr lang="ja-JP" altLang="en-US" sz="2000" dirty="0"/>
              <a:t>「将来その</a:t>
            </a:r>
            <a:r>
              <a:rPr lang="ja-JP" altLang="en-US" sz="2000" b="1" dirty="0"/>
              <a:t>判断</a:t>
            </a:r>
            <a:r>
              <a:rPr lang="ja-JP" altLang="en-US" sz="2000" dirty="0"/>
              <a:t>を担える人を増やす事」まで考えよう</a:t>
            </a: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判断とメタ判断</a:t>
            </a:r>
          </a:p>
        </p:txBody>
      </p:sp>
    </p:spTree>
    <p:extLst>
      <p:ext uri="{BB962C8B-B14F-4D97-AF65-F5344CB8AC3E}">
        <p14:creationId xmlns:p14="http://schemas.microsoft.com/office/powerpoint/2010/main" val="455247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品質管理クラウドチームで AIエージェントを活用して作った</a:t>
            </a:r>
            <a:endParaRPr lang="ja-JP" altLang="en-US" dirty="0"/>
          </a:p>
          <a:p>
            <a:r>
              <a:rPr kumimoji="1" lang="ja-JP" altLang="en-US" sz="1600" b="1" dirty="0"/>
              <a:t>事例1: ドキュメントパイプライン</a:t>
            </a:r>
          </a:p>
          <a:p>
            <a:pPr lvl="1"/>
            <a:r>
              <a:rPr kumimoji="1" lang="ja-JP" altLang="en-US" sz="1600" dirty="0"/>
              <a:t>Git 上の Markdown（193ファイル）↔ 自動同期 ↔ 社内 Wiki（GROWI）</a:t>
            </a:r>
          </a:p>
          <a:p>
            <a:pPr lvl="1"/>
            <a:r>
              <a:rPr kumimoji="1" lang="ja-JP" altLang="en-US" sz="1600" dirty="0"/>
              <a:t>「成果物の作り方」を設計した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事例2: AIレビューワークフロー</a:t>
            </a:r>
          </a:p>
          <a:p>
            <a:pPr lvl="1"/>
            <a:r>
              <a:rPr kumimoji="1" lang="ja-JP" altLang="en-US" sz="1600" dirty="0"/>
              <a:t>Claude Code スキル/エージェント </a:t>
            </a:r>
            <a:r>
              <a:rPr lang="ja-JP" altLang="en-US" sz="1600" dirty="0"/>
              <a:t>↔</a:t>
            </a:r>
            <a:r>
              <a:rPr kumimoji="1" lang="ja-JP" altLang="en-US" sz="16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「判断の仕方」を構造化し、育てる</a:t>
            </a:r>
          </a:p>
          <a:p>
            <a:pPr lvl="1"/>
            <a:r>
              <a:rPr kumimoji="1" lang="ja-JP" altLang="en-US" sz="1500" dirty="0"/>
              <a:t>目の前の PR を判断しつつ、判断力そのものも育てたい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共通パターン:</a:t>
            </a:r>
          </a:p>
          <a:p>
            <a:pPr lvl="1"/>
            <a:r>
              <a:rPr kumimoji="1" lang="ja-JP" altLang="en-US" sz="1600" dirty="0"/>
              <a:t>人間が判断の枠組みを作り、AI 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今日話す2つの仕組み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　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実装と Wiki が一致しない（ドキュメントが腐る）</a:t>
            </a:r>
            <a:endParaRPr lang="ja-JP" altLang="en-US" dirty="0"/>
          </a:p>
          <a:p>
            <a:endParaRPr kumimoji="1" lang="en-US" altLang="ja-JP" sz="1600" dirty="0"/>
          </a:p>
          <a:p>
            <a:r>
              <a:rPr kumimoji="1" lang="ja-JP" altLang="en-US" sz="1600" dirty="0"/>
              <a:t>ソースコードを S</a:t>
            </a:r>
            <a:r>
              <a:rPr kumimoji="1" lang="en-US" altLang="ja-JP" sz="1600" dirty="0"/>
              <a:t>ingle </a:t>
            </a:r>
            <a:r>
              <a:rPr kumimoji="1" lang="ja-JP" altLang="en-US" sz="1600" dirty="0"/>
              <a:t>S</a:t>
            </a:r>
            <a:r>
              <a:rPr kumimoji="1" lang="en-US" altLang="ja-JP" sz="1600" dirty="0" err="1"/>
              <a:t>ource</a:t>
            </a:r>
            <a:r>
              <a:rPr kumimoji="1" lang="en-US" altLang="ja-JP" sz="1600" dirty="0"/>
              <a:t> </a:t>
            </a:r>
            <a:r>
              <a:rPr kumimoji="1" lang="ja-JP" altLang="en-US" sz="1600" dirty="0"/>
              <a:t>O</a:t>
            </a:r>
            <a:r>
              <a:rPr kumimoji="1" lang="en-US" altLang="ja-JP" sz="1600" dirty="0"/>
              <a:t>f </a:t>
            </a:r>
            <a:r>
              <a:rPr kumimoji="1" lang="ja-JP" altLang="en-US" sz="1600" dirty="0"/>
              <a:t>T</a:t>
            </a:r>
            <a:r>
              <a:rPr kumimoji="1" lang="en-US" altLang="ja-JP" sz="1600" dirty="0" err="1"/>
              <a:t>rueth</a:t>
            </a:r>
            <a:r>
              <a:rPr kumimoji="1" lang="ja-JP" altLang="en-US" sz="1600" dirty="0"/>
              <a:t>（唯一の真実） にしたいが、</a:t>
            </a:r>
            <a:br>
              <a:rPr kumimoji="1" lang="en-US" altLang="ja-JP" sz="1600" dirty="0"/>
            </a:br>
            <a:r>
              <a:rPr kumimoji="1" lang="ja-JP" altLang="en-US" sz="1600" dirty="0"/>
              <a:t>他部門連携では Wiki が必要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Issue / Redmine / 実装 / Wiki</a:t>
            </a:r>
          </a:p>
          <a:p>
            <a:pPr lvl="1"/>
            <a:r>
              <a:rPr kumimoji="1" lang="ja-JP" altLang="en-US" sz="1600" dirty="0"/>
              <a:t>→ 同じことを何度も書く 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→ どこかで整合しなくなる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r>
              <a:rPr lang="ja-JP" altLang="en-US" b="1" dirty="0"/>
              <a:t>GitHub も Redmine も GROWI も </a:t>
            </a:r>
            <a:r>
              <a:rPr lang="en-US" altLang="ja-JP" b="1" dirty="0"/>
              <a:t>CLI</a:t>
            </a:r>
            <a:r>
              <a:rPr lang="ja-JP" altLang="en-US" b="1" dirty="0"/>
              <a:t>から更新できる ！　</a:t>
            </a:r>
            <a:br>
              <a:rPr lang="en-US" altLang="ja-JP" dirty="0"/>
            </a:br>
            <a:r>
              <a:rPr lang="ja-JP" altLang="en-US" sz="1600" dirty="0"/>
              <a:t>→ </a:t>
            </a:r>
            <a:r>
              <a:rPr lang="en-US" altLang="ja-JP" sz="1600" dirty="0"/>
              <a:t>AI</a:t>
            </a:r>
            <a:r>
              <a:rPr lang="ja-JP" altLang="en-US" sz="1600" dirty="0"/>
              <a:t>エージェント</a:t>
            </a:r>
            <a:r>
              <a:rPr lang="ja-JP" altLang="en-US" dirty="0"/>
              <a:t>🤖</a:t>
            </a:r>
            <a:r>
              <a:rPr lang="ja-JP" altLang="en-US" sz="1600" dirty="0"/>
              <a:t>を利用して解決したい</a:t>
            </a:r>
          </a:p>
          <a:p>
            <a:pPr lvl="1"/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 — なぜ作ろうと思ったか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Claude Code で構築した統合 CLI ツール（TypeScript）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docs:check        frontmatter 検証・パス重複チェック</a:t>
            </a:r>
          </a:p>
          <a:p>
            <a:r>
              <a:rPr kumimoji="1" lang="ja-JP" altLang="en-US" sz="1600" dirty="0"/>
              <a:t>docs:publish      Git → GROWI 同期（単体 / 一括 / dry-run）</a:t>
            </a:r>
          </a:p>
          <a:p>
            <a:r>
              <a:rPr kumimoji="1" lang="ja-JP" altLang="en-US" sz="1600" dirty="0"/>
              <a:t>docs:import:page  GROWI → Git 取り込み（画像を Blob に自動移行）</a:t>
            </a:r>
          </a:p>
          <a:p>
            <a:r>
              <a:rPr kumimoji="1" lang="ja-JP" altLang="en-US" sz="1600" dirty="0"/>
              <a:t>docs:import:tree  GROWI ツリー一括取り込み</a:t>
            </a:r>
          </a:p>
          <a:p>
            <a:r>
              <a:rPr kumimoji="1" lang="ja-JP" altLang="en-US" sz="1600" dirty="0"/>
              <a:t>docs:image:paste  クリップボード画像 → Azure Blob → Markdown リンク</a:t>
            </a:r>
          </a:p>
          <a:p>
            <a:r>
              <a:rPr kumimoji="1" lang="ja-JP" altLang="en-US" sz="1600" dirty="0"/>
              <a:t>docs:image:upload ローカル画像ファイル → Azure Blob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各 Markdown に frontmatter でメタデータを持たせる（設定ファイル不要）</a:t>
            </a:r>
          </a:p>
          <a:p>
            <a:r>
              <a:rPr kumimoji="1" lang="ja-JP" altLang="en-US" sz="1600" dirty="0"/>
              <a:t>画像貼り付けは VSCode ショートカット（Ctrl+Alt+V）で完結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growi-docs CLI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PR 作成</a:t>
            </a:r>
          </a:p>
          <a:p>
            <a:pPr lvl="1"/>
            <a:r>
              <a:rPr kumimoji="1" lang="ja-JP" altLang="en-US" sz="1600" dirty="0"/>
              <a:t>→ docs-validate.yml</a:t>
            </a:r>
          </a:p>
          <a:p>
            <a:pPr lvl="2"/>
            <a:r>
              <a:rPr kumimoji="1" lang="ja-JP" altLang="en-US" sz="1600" dirty="0"/>
              <a:t>TypeScript 型チェック（tsc --noEmit）</a:t>
            </a:r>
          </a:p>
          <a:p>
            <a:pPr lvl="2"/>
            <a:r>
              <a:rPr kumimoji="1" lang="ja-JP" altLang="en-US" sz="1600" dirty="0"/>
              <a:t>frontmatter / パス整合性チェック（docs:check）</a:t>
            </a:r>
            <a:endParaRPr lang="ja-JP" altLang="en-US" dirty="0"/>
          </a:p>
          <a:p>
            <a:r>
              <a:rPr kumimoji="1" lang="ja-JP" altLang="en-US" sz="1600" dirty="0"/>
              <a:t>release ブランチへマージ</a:t>
            </a:r>
          </a:p>
          <a:p>
            <a:pPr lvl="1"/>
            <a:r>
              <a:rPr kumimoji="1" lang="ja-JP" altLang="en-US" sz="1600" dirty="0"/>
              <a:t>→ sync-to-growi.yml</a:t>
            </a:r>
          </a:p>
          <a:p>
            <a:pPr lvl="2"/>
            <a:r>
              <a:rPr kumimoji="1" lang="ja-JP" altLang="en-US" sz="1600" dirty="0"/>
              <a:t>git diff で変更 Markdown を検出</a:t>
            </a:r>
          </a:p>
          <a:p>
            <a:pPr lvl="2"/>
            <a:r>
              <a:rPr kumimoji="1" lang="ja-JP" altLang="en-US" sz="1600" dirty="0"/>
              <a:t>growi_path の変更を検知 → 事故防止（fail）</a:t>
            </a:r>
          </a:p>
          <a:p>
            <a:pPr lvl="2"/>
            <a:r>
              <a:rPr kumimoji="1" lang="ja-JP" altLang="en-US" sz="1600" dirty="0"/>
              <a:t>変更ファイルのみを GROWI に publish</a:t>
            </a:r>
          </a:p>
          <a:p>
            <a:pPr lvl="2"/>
            <a:r>
              <a:rPr kumimoji="1" lang="ja-JP" altLang="en-US" sz="1600" dirty="0"/>
              <a:t>変更なしなら zero-diff skip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冪等な設計: 再実行しても安全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自動同期パイプライン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問い: Wiki をローカル（Git）で管理すれば何が可能になるか？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lvl="1"/>
            <a:endParaRPr kumimoji="1" lang="ja-JP" altLang="en-US" sz="1600" dirty="0"/>
          </a:p>
          <a:p>
            <a:r>
              <a:rPr lang="ja-JP" altLang="en-US" b="1" dirty="0"/>
              <a:t>問い:</a:t>
            </a:r>
            <a:endParaRPr lang="ja-JP" altLang="en-US" dirty="0"/>
          </a:p>
          <a:p>
            <a:pPr lvl="1"/>
            <a:r>
              <a:rPr kumimoji="1" lang="ja-JP" altLang="en-US" sz="1600" dirty="0"/>
              <a:t>GROWI が社内 NW のみ       → selfhost ランナーで解決</a:t>
            </a:r>
          </a:p>
          <a:p>
            <a:pPr lvl="1"/>
            <a:r>
              <a:rPr kumimoji="1" lang="ja-JP" altLang="en-US" sz="1600" dirty="0"/>
              <a:t>Git 画像でリポジトリが重い   → Azure Blob ストレージ</a:t>
            </a:r>
          </a:p>
          <a:p>
            <a:pPr lvl="1"/>
            <a:r>
              <a:rPr kumimoji="1" lang="ja-JP" altLang="en-US" sz="1600" dirty="0"/>
              <a:t>Blob に格納する手順が面倒   → CLI スクリプト + ショートカットで実行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判断（Judgment）—何を判断したか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効果</a:t>
            </a:r>
          </a:p>
          <a:p>
            <a:pPr lvl="1"/>
            <a:r>
              <a:rPr kumimoji="1" lang="ja-JP" altLang="en-US" sz="1600" dirty="0"/>
              <a:t>仕様ドキュメントを Git 管理（現在 193 ファイル規模）</a:t>
            </a:r>
          </a:p>
          <a:p>
            <a:pPr lvl="1"/>
            <a:r>
              <a:rPr kumimoji="1" lang="ja-JP" altLang="en-US" sz="1600" b="1" dirty="0"/>
              <a:t>仕様をコードから AI で生成 → 過程でバグも発見</a:t>
            </a:r>
            <a:r>
              <a:rPr kumimoji="1" lang="ja-JP" altLang="en-US" sz="1600" dirty="0"/>
              <a:t>（SSOT の恩恵）</a:t>
            </a:r>
          </a:p>
          <a:p>
            <a:pPr lvl="1"/>
            <a:r>
              <a:rPr kumimoji="1" lang="ja-JP" altLang="en-US" sz="1600" dirty="0"/>
              <a:t>コミット履歴で貢献が見える（感謝を伝えやすい）</a:t>
            </a:r>
          </a:p>
          <a:p>
            <a:pPr lvl="1"/>
            <a:r>
              <a:rPr kumimoji="1" lang="en-US" altLang="ja-JP" sz="1600" dirty="0"/>
              <a:t>AI</a:t>
            </a:r>
            <a:r>
              <a:rPr kumimoji="1" lang="ja-JP" altLang="en-US" sz="1600" dirty="0"/>
              <a:t>エージェントで「時間がない」で届かなかった仕組みづくりに手が届いた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ここで起きていたこと</a:t>
            </a:r>
          </a:p>
          <a:p>
            <a:pPr lvl="1"/>
            <a:r>
              <a:rPr kumimoji="1" lang="ja-JP" altLang="en-US" sz="1600" dirty="0"/>
              <a:t>「何を自動化するか」「どう設計するか」→ 人間が判断</a:t>
            </a:r>
          </a:p>
          <a:p>
            <a:pPr lvl="1"/>
            <a:r>
              <a:rPr kumimoji="1" lang="ja-JP" altLang="en-US" sz="1600" dirty="0"/>
              <a:t>「ツール構築」「同期実行」           → AI が演算</a:t>
            </a:r>
          </a:p>
          <a:p>
            <a:pPr lvl="1"/>
            <a:r>
              <a:rPr kumimoji="1" lang="ja-JP" altLang="en-US" sz="1600" dirty="0"/>
              <a:t>作り方そのものを設計できた</a:t>
            </a:r>
          </a:p>
          <a:p>
            <a:pPr lvl="1"/>
            <a:r>
              <a:rPr kumimoji="1" lang="ja-JP" altLang="en-US" sz="1600" dirty="0"/>
              <a:t>— 機能・制約・トレードオフを高速で試せるようになった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効果とここで起きていたこと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「判断を構造化し、育てる」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500" dirty="0"/>
              <a:t>コアメンバー（田中さん）が別チームへ</a:t>
            </a:r>
            <a:r>
              <a:rPr kumimoji="1" lang="en-US" altLang="ja-JP" sz="1500" dirty="0"/>
              <a:t>…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→ PdM 1名 / BE+FE 1名（私）/ FE 2名 体制に</a:t>
            </a:r>
          </a:p>
          <a:p>
            <a:endParaRPr lang="ja-JP" altLang="en-US" dirty="0"/>
          </a:p>
          <a:p>
            <a:r>
              <a:rPr kumimoji="1" lang="ja-JP" altLang="en-US" sz="1500" dirty="0"/>
              <a:t>コード自体は AI で早く完成するが、レビューコストが高くなっていた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AI にレビューさせるだけでは不十分</a:t>
            </a:r>
          </a:p>
          <a:p>
            <a:pPr lvl="1"/>
            <a:r>
              <a:rPr kumimoji="1" lang="ja-JP" altLang="en-US" sz="1500" dirty="0"/>
              <a:t>確認してほしいことを確認してくれるとは限らない</a:t>
            </a:r>
          </a:p>
          <a:p>
            <a:pPr lvl="1"/>
            <a:r>
              <a:rPr kumimoji="1" lang="ja-JP" altLang="en-US" sz="1500" dirty="0"/>
              <a:t>バグ探しを主目的にすると、テスト / Lint / 静的解析と責務が競合する</a:t>
            </a:r>
          </a:p>
          <a:p>
            <a:pPr lvl="1"/>
            <a:r>
              <a:rPr kumimoji="1" lang="ja-JP" altLang="en-US" sz="1500" dirty="0"/>
              <a:t>AI生成コードは速く増えるが、人間の理解速度は変わらない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レビューには 2つの時間軸がある</a:t>
            </a:r>
          </a:p>
          <a:p>
            <a:pPr lvl="1"/>
            <a:r>
              <a:rPr kumimoji="1" lang="ja-JP" altLang="en-US" sz="1500" dirty="0"/>
              <a:t>短期: この変更をいま組み込むべきかを判断する</a:t>
            </a:r>
          </a:p>
          <a:p>
            <a:pPr lvl="1"/>
            <a:r>
              <a:rPr kumimoji="1" lang="ja-JP" altLang="en-US" sz="1500" dirty="0"/>
              <a:t>長期: その判断を担える人を増やす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 — AIレビューだけでは不十分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sz="1500" b="1" dirty="0"/>
              <a:t>問い: AI がチェックし、人間が採否を判断するワークフローをどう設計するか？</a:t>
            </a:r>
            <a:endParaRPr lang="ja-JP" altLang="en-US" dirty="0"/>
          </a:p>
          <a:p>
            <a:r>
              <a:rPr kumimoji="1" lang="ja-JP" altLang="en-US" sz="1500" dirty="0"/>
              <a:t>レビューの前提</a:t>
            </a:r>
          </a:p>
          <a:p>
            <a:pPr lvl="1"/>
            <a:r>
              <a:rPr kumimoji="1" lang="ja-JP" altLang="en-US" sz="1500" dirty="0"/>
              <a:t>これまでは、コーディングの過程でメンタルモデルが形成されていた</a:t>
            </a:r>
            <a:endParaRPr kumimoji="1" lang="en-US" altLang="ja-JP" sz="1500" dirty="0"/>
          </a:p>
          <a:p>
            <a:pPr lvl="2"/>
            <a:r>
              <a:rPr kumimoji="1" lang="en-US" altLang="ja-JP" sz="1500" dirty="0"/>
              <a:t>AI</a:t>
            </a:r>
            <a:r>
              <a:rPr kumimoji="1" lang="ja-JP" altLang="en-US" sz="1500" dirty="0"/>
              <a:t>によって、メンタルモデルが漠然としていても実装ができてしまう</a:t>
            </a:r>
            <a:br>
              <a:rPr kumimoji="1" lang="en-US" altLang="ja-JP" sz="1500" dirty="0"/>
            </a:br>
            <a:r>
              <a:rPr kumimoji="1" lang="ja-JP" altLang="en-US" sz="1500" dirty="0"/>
              <a:t>≒コードの細かい仕様やトレードオフを理解せぬまま動いてしまう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著者が先に自分のメンタルモデルへ統合してからレビューに出す</a:t>
            </a:r>
          </a:p>
          <a:p>
            <a:pPr lvl="1"/>
            <a:r>
              <a:rPr kumimoji="1" lang="ja-JP" altLang="en-US" sz="1500" dirty="0"/>
              <a:t>「AI が書いたので詳細はよく分からないが、テストは通っている」は出せない</a:t>
            </a:r>
            <a:endParaRPr lang="ja-JP" altLang="en-US" dirty="0"/>
          </a:p>
          <a:p>
            <a:r>
              <a:rPr kumimoji="1" lang="ja-JP" altLang="en-US" sz="1500" dirty="0"/>
              <a:t>セルフレビュー（著者用）とピアレビュー（レビュワー用）を分離</a:t>
            </a:r>
          </a:p>
          <a:p>
            <a:pPr lvl="1"/>
            <a:r>
              <a:rPr kumimoji="1" lang="ja-JP" altLang="en-US" sz="1500" dirty="0"/>
              <a:t>セルフ: 網羅的チェック + 意思決定の記録</a:t>
            </a:r>
            <a:endParaRPr kumimoji="1" lang="en-US" altLang="ja-JP" sz="1500" dirty="0"/>
          </a:p>
          <a:p>
            <a:pPr lvl="2"/>
            <a:r>
              <a:rPr kumimoji="1" lang="ja-JP" altLang="en-US" sz="1500" dirty="0"/>
              <a:t>著者がコードに責任を持つべき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ピア: PR 理解 + 重要指摘のみ質問形式</a:t>
            </a:r>
            <a:endParaRPr kumimoji="1" lang="ja-JP" altLang="en-US" sz="1500" dirty="0"/>
          </a:p>
          <a:p>
            <a:pPr lvl="2"/>
            <a:r>
              <a:rPr kumimoji="1" lang="ja-JP" altLang="en-US" sz="1500" dirty="0"/>
              <a:t>レビュワーに細かい指摘たくさんされると辛い</a:t>
            </a:r>
            <a:endParaRPr lang="ja-JP" altLang="en-US" dirty="0"/>
          </a:p>
          <a:p>
            <a:r>
              <a:rPr lang="ja-JP" altLang="en-US" sz="1500" dirty="0"/>
              <a:t>成長の機会</a:t>
            </a:r>
            <a:r>
              <a:rPr kumimoji="1" lang="ja-JP" altLang="en-US" sz="1500" dirty="0"/>
              <a:t>は「教えること」ではなく「判断に参加すること」</a:t>
            </a:r>
          </a:p>
          <a:p>
            <a:pPr lvl="1"/>
            <a:r>
              <a:rPr kumimoji="1" lang="ja-JP" altLang="en-US" sz="1500" dirty="0"/>
              <a:t>著者: 自分は何を採るのかを明示する</a:t>
            </a:r>
          </a:p>
          <a:p>
            <a:pPr lvl="1"/>
            <a:r>
              <a:rPr kumimoji="1" lang="ja-JP" altLang="en-US" sz="1500" dirty="0"/>
              <a:t>レビュワー: その判断は妥当かを問う・理解する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判断（Judgment）— レビュー制度を設計する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PR で共有すべき 4要素</a:t>
            </a:r>
          </a:p>
          <a:p>
            <a:pPr lvl="1"/>
            <a:r>
              <a:rPr kumimoji="1" lang="ja-JP" altLang="en-US" sz="1500" dirty="0"/>
              <a:t>コード / 設計意図 / トレードオフ / 影響範囲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9専門エージェント</a:t>
            </a:r>
          </a:p>
          <a:p>
            <a:pPr lvl="1"/>
            <a:r>
              <a:rPr kumimoji="1" lang="ja-JP" altLang="en-US" sz="1500" dirty="0"/>
              <a:t>FE/BE: bug-hunter / security / performance</a:t>
            </a:r>
          </a:p>
          <a:p>
            <a:pPr lvl="1"/>
            <a:r>
              <a:rPr kumimoji="1" lang="ja-JP" altLang="en-US" sz="1500" dirty="0"/>
              <a:t>Cross-cutting: architecture / simplicity / spec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構造化プロンプト</a:t>
            </a:r>
          </a:p>
          <a:p>
            <a:pPr lvl="1"/>
            <a:r>
              <a:rPr kumimoji="1" lang="ja-JP" altLang="en-US" sz="1500" dirty="0"/>
              <a:t>Role → Scope → Task → Constraints → Context → Output</a:t>
            </a:r>
          </a:p>
          <a:p>
            <a:pPr lvl="1"/>
            <a:r>
              <a:rPr kumimoji="1" lang="ja-JP" altLang="en-US" sz="1500" dirty="0"/>
              <a:t>Read-only / 専門外については何も言わない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判断（Judgment）— 共有すべきこととエージェント設計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著者</a:t>
            </a:r>
          </a:p>
          <a:p>
            <a:pPr lvl="1"/>
            <a:r>
              <a:rPr kumimoji="1" lang="ja-JP" altLang="en-US" sz="1500" dirty="0"/>
              <a:t>/self-review → 網羅的チェック（Reckoning）</a:t>
            </a:r>
          </a:p>
          <a:p>
            <a:pPr lvl="1"/>
            <a:r>
              <a:rPr kumimoji="1" lang="ja-JP" altLang="en-US" sz="1500" dirty="0"/>
              <a:t>意思決定フェーズ → 各 finding に判断（Judgment）</a:t>
            </a:r>
          </a:p>
          <a:p>
            <a:pPr lvl="1"/>
            <a:r>
              <a:rPr kumimoji="1" lang="ja-JP" altLang="en-US" sz="1500" dirty="0"/>
              <a:t>/draft-pr → 意思決定記録と設計意図を PR に埋め込む</a:t>
            </a:r>
            <a:endParaRPr lang="ja-JP" altLang="en-US" dirty="0"/>
          </a:p>
          <a:p>
            <a:r>
              <a:rPr kumimoji="1" lang="ja-JP" altLang="en-US" sz="1500" b="1" dirty="0"/>
              <a:t>レビュワー</a:t>
            </a:r>
          </a:p>
          <a:p>
            <a:pPr lvl="1"/>
            <a:r>
              <a:rPr kumimoji="1" lang="ja-JP" altLang="en-US" sz="1500" dirty="0"/>
              <a:t>/peer-review → 検討済み事項をスキップ</a:t>
            </a:r>
          </a:p>
          <a:p>
            <a:pPr lvl="1"/>
            <a:r>
              <a:rPr kumimoji="1" lang="ja-JP" altLang="en-US" sz="1500" dirty="0"/>
              <a:t>コメント選択 → 「その判断は妥当か」を問う（Judgment）</a:t>
            </a:r>
          </a:p>
          <a:p>
            <a:pPr lvl="1"/>
            <a:r>
              <a:rPr kumimoji="1" lang="ja-JP" altLang="en-US" sz="1500" dirty="0"/>
              <a:t>/post-review → Pending レビューを投稿</a:t>
            </a:r>
          </a:p>
          <a:p>
            <a:r>
              <a:rPr lang="ja-JP" altLang="en-US" sz="1500" b="1" dirty="0"/>
              <a:t>チームで</a:t>
            </a:r>
          </a:p>
          <a:p>
            <a:pPr lvl="1"/>
            <a:r>
              <a:rPr lang="en-US" altLang="ja-JP" sz="1500" dirty="0"/>
              <a:t>Claude.md</a:t>
            </a:r>
            <a:r>
              <a:rPr lang="ja-JP" altLang="en-US" sz="1500" dirty="0"/>
              <a:t>や各</a:t>
            </a:r>
            <a:r>
              <a:rPr lang="en-US" altLang="ja-JP" sz="1500" dirty="0"/>
              <a:t>Agent.md</a:t>
            </a:r>
            <a:r>
              <a:rPr lang="ja-JP" altLang="en-US" sz="1500" dirty="0"/>
              <a:t>に判断・観点を追加していく（Judgment）</a:t>
            </a:r>
            <a:endParaRPr lang="en-US" altLang="ja-JP" sz="1500" dirty="0"/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重要なのは「AI に言われたから」ではなく</a:t>
            </a:r>
          </a:p>
          <a:p>
            <a:r>
              <a:rPr kumimoji="1" lang="ja-JP" altLang="en-US" sz="1500" b="1" dirty="0"/>
              <a:t>「自分はこう判断した」と残すこと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判断を通すワークフロー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責務分離</a:t>
            </a:r>
          </a:p>
          <a:p>
            <a:pPr lvl="1"/>
            <a:r>
              <a:rPr kumimoji="1" lang="ja-JP" altLang="en-US" sz="1500" dirty="0"/>
              <a:t>自動化可能な欠陥検出は前段へ、レビューは採否判断へ寄せられる</a:t>
            </a:r>
          </a:p>
          <a:p>
            <a:pPr lvl="1"/>
            <a:r>
              <a:rPr kumimoji="1" lang="ja-JP" altLang="en-US" sz="1500" dirty="0"/>
              <a:t>最終チェックポイントは人間同士のレビューに残せる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変更理解</a:t>
            </a:r>
          </a:p>
          <a:p>
            <a:pPr lvl="1"/>
            <a:r>
              <a:rPr kumimoji="1" lang="ja-JP" altLang="en-US" sz="1500" dirty="0"/>
              <a:t>著者が読み直してから出すので、ブラックボックスな変更が減る</a:t>
            </a:r>
          </a:p>
          <a:p>
            <a:pPr lvl="1"/>
            <a:r>
              <a:rPr kumimoji="1" lang="ja-JP" altLang="en-US" sz="1500" dirty="0"/>
              <a:t>コメントが「教える」より「判断の確認」に寄ってくる</a:t>
            </a:r>
          </a:p>
          <a:p>
            <a:endParaRPr lang="ja-JP" altLang="en-US" dirty="0"/>
          </a:p>
          <a:p>
            <a:r>
              <a:rPr lang="ja-JP" altLang="en-US" sz="1500" b="1" dirty="0"/>
              <a:t>仕組み</a:t>
            </a:r>
            <a:r>
              <a:rPr kumimoji="1" lang="ja-JP" altLang="en-US" sz="1500" b="1" dirty="0"/>
              <a:t>としての効果</a:t>
            </a:r>
          </a:p>
          <a:p>
            <a:pPr lvl="1"/>
            <a:r>
              <a:rPr kumimoji="1" lang="ja-JP" altLang="en-US" sz="1500" dirty="0"/>
              <a:t>単発のレビューコメントは軽く、Judgment の訓練機会は増える</a:t>
            </a:r>
          </a:p>
          <a:p>
            <a:pPr lvl="1"/>
            <a:r>
              <a:rPr kumimoji="1" lang="ja-JP" altLang="en-US" sz="1500" dirty="0"/>
              <a:t>Issue 起点で方向性を先に合わせる動機が生まれる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 — 判断共有と判断育成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ドキュメントパイプライン</a:t>
            </a:r>
          </a:p>
          <a:p>
            <a:pPr lvl="1"/>
            <a:r>
              <a:rPr kumimoji="1" lang="ja-JP" altLang="en-US" sz="1500" dirty="0"/>
              <a:t>Judgment: 何を自動化し・何を</a:t>
            </a:r>
            <a:r>
              <a:rPr lang="ja-JP" altLang="en-US" sz="1500" dirty="0"/>
              <a:t>メンバー（人間）に何</a:t>
            </a:r>
            <a:r>
              <a:rPr kumimoji="1" lang="ja-JP" altLang="en-US" sz="1500" dirty="0"/>
              <a:t>をやってもらうか、どう設計するか</a:t>
            </a:r>
          </a:p>
          <a:p>
            <a:pPr lvl="1"/>
            <a:r>
              <a:rPr kumimoji="1" lang="ja-JP" altLang="en-US" sz="1500" dirty="0"/>
              <a:t>Reckoning: ツール構築、自動同期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レビューワークフロー</a:t>
            </a:r>
          </a:p>
          <a:p>
            <a:pPr lvl="1"/>
            <a:r>
              <a:rPr kumimoji="1" lang="ja-JP" altLang="en-US" sz="1500" dirty="0"/>
              <a:t>Judgment: この変更を組み込むべきか、どの判断を採るか、何を観点とするか</a:t>
            </a:r>
          </a:p>
          <a:p>
            <a:pPr lvl="1"/>
            <a:r>
              <a:rPr kumimoji="1" lang="ja-JP" altLang="en-US" sz="1500" dirty="0"/>
              <a:t>Reckoning: 網羅分析、要約、観点別チェック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共通</a:t>
            </a:r>
          </a:p>
          <a:p>
            <a:pPr lvl="1"/>
            <a:r>
              <a:rPr kumimoji="1" lang="ja-JP" altLang="en-US" sz="1500" dirty="0"/>
              <a:t>人間が枠組みと採否を決め、AI がその範囲で実行する</a:t>
            </a:r>
          </a:p>
          <a:p>
            <a:pPr lvl="1"/>
            <a:r>
              <a:rPr kumimoji="1" lang="ja-JP" altLang="en-US" sz="1500" dirty="0"/>
              <a:t>事例2ではレビューを「判断共有と判断育成のインフラ」にした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2つの事例が示すパターン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600" dirty="0"/>
              <a:t>レビューでは</a:t>
            </a:r>
          </a:p>
          <a:p>
            <a:r>
              <a:rPr kumimoji="1" lang="ja-JP" altLang="en-US" sz="2800" b="1" dirty="0"/>
              <a:t>「場」と「</a:t>
            </a:r>
            <a:r>
              <a:rPr lang="ja-JP" altLang="en-US" sz="2800" b="1" dirty="0"/>
              <a:t>仕組み</a:t>
            </a:r>
            <a:r>
              <a:rPr kumimoji="1" lang="ja-JP" altLang="en-US" sz="2800" b="1" dirty="0"/>
              <a:t>」を分けて考える</a:t>
            </a:r>
          </a:p>
          <a:p>
            <a:endParaRPr lang="ja-JP" altLang="en-US" dirty="0"/>
          </a:p>
          <a:p>
            <a:r>
              <a:rPr kumimoji="1" lang="ja-JP" altLang="en-US" sz="1900" dirty="0"/>
              <a:t>場: この変更を組み込むか</a:t>
            </a:r>
          </a:p>
          <a:p>
            <a:r>
              <a:rPr kumimoji="1" lang="ja-JP" altLang="en-US" sz="1900" dirty="0"/>
              <a:t>制度: その判断を担える人を増やす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違和感、十分条件、受け入れるトレードオフを決める</a:t>
            </a:r>
          </a:p>
          <a:p>
            <a:pPr lvl="1"/>
            <a:r>
              <a:rPr kumimoji="1" lang="ja-JP" altLang="en-US" sz="1500" b="1" dirty="0"/>
              <a:t>問いを立てる能力</a:t>
            </a:r>
            <a:r>
              <a:rPr kumimoji="1" lang="ja-JP" altLang="en-US" sz="1500" dirty="0"/>
              <a:t>は開発の中で育てる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kumimoji="1" lang="ja-JP" altLang="en-US" sz="1500" b="1" dirty="0"/>
              <a:t>変更を自分のメンタルモデルへ統合</a:t>
            </a:r>
            <a:r>
              <a:rPr kumimoji="1" lang="ja-JP" altLang="en-US" sz="1500" dirty="0"/>
              <a:t>してからレビューに出す</a:t>
            </a:r>
          </a:p>
          <a:p>
            <a:pPr lvl="1"/>
            <a:r>
              <a:rPr kumimoji="1" lang="ja-JP" altLang="en-US" sz="1500" dirty="0"/>
              <a:t>AI が書いたコードでも、自分の言葉で説明できなければならない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教育をどこに置くか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判断能力（Judgment） 育成を含めるべき</a:t>
            </a:r>
          </a:p>
          <a:p>
            <a:pPr lvl="1"/>
            <a:r>
              <a:rPr kumimoji="1" lang="ja-JP" altLang="en-US" sz="1500" dirty="0"/>
              <a:t>教育は「丁寧に教えること」より「判断に参加させること」で起こる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dirty="0"/>
              <a:t>Redmine → GitHub Issue → コード → Wiki をつなぐ</a:t>
            </a:r>
          </a:p>
          <a:p>
            <a:pPr lvl="1"/>
            <a:r>
              <a:rPr kumimoji="1" lang="ja-JP" altLang="en-US" sz="1500" dirty="0"/>
              <a:t>GitHub Agent が全体の整合をガーデニングする</a:t>
            </a:r>
          </a:p>
          <a:p>
            <a:pPr lvl="1"/>
            <a:r>
              <a:rPr kumimoji="1" lang="ja-JP" altLang="en-US" sz="1500" dirty="0"/>
              <a:t>例: PR 時に Wiki 未更新を指摘する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Phase 2</a:t>
            </a:r>
          </a:p>
          <a:p>
            <a:pPr lvl="1"/>
            <a:r>
              <a:rPr kumimoji="1" lang="ja-JP" altLang="en-US" sz="1500" dirty="0"/>
              <a:t>Claude Code Action による自動ドキュメント生成 PR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Judgment → Reckoning → Judgment</a:t>
            </a:r>
          </a:p>
          <a:p>
            <a:pPr lvl="1"/>
            <a:r>
              <a:rPr kumimoji="1" lang="ja-JP" altLang="en-US" sz="1500" dirty="0"/>
              <a:t>問いを立てる</a:t>
            </a:r>
          </a:p>
          <a:p>
            <a:pPr lvl="1"/>
            <a:r>
              <a:rPr kumimoji="1" lang="ja-JP" altLang="en-US" sz="1500" dirty="0"/>
              <a:t>AI に演算させる</a:t>
            </a:r>
          </a:p>
          <a:p>
            <a:pPr lvl="1"/>
            <a:r>
              <a:rPr kumimoji="1" lang="ja-JP" altLang="en-US" sz="1500" dirty="0"/>
              <a:t>採否を決める → また問いを立てる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将来の展望と最後のループ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1635</TotalTime>
  <Words>2017</Words>
  <Application>Microsoft Office PowerPoint</Application>
  <PresentationFormat>A4 210 x 297 mm</PresentationFormat>
  <Paragraphs>235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6" baseType="lpstr">
      <vt:lpstr>游ゴシック</vt:lpstr>
      <vt:lpstr>Arial</vt:lpstr>
      <vt:lpstr>1_Office テーマ</vt:lpstr>
      <vt:lpstr>判断と演算のループを設計する — AIエージェント活用の2つの事例 —</vt:lpstr>
      <vt:lpstr>PowerPoint プレゼンテーション</vt:lpstr>
      <vt:lpstr>今日話すこと</vt:lpstr>
      <vt:lpstr>Brian Cantwell Smith とは誰か</vt:lpstr>
      <vt:lpstr>枠組み: 判断（Judgment）と演算（Reckoning）</vt:lpstr>
      <vt:lpstr>PowerPoint プレゼンテーション</vt:lpstr>
      <vt:lpstr>今日話す2つの仕組み</vt:lpstr>
      <vt:lpstr>事例1　ドキュメントパイプライン</vt:lpstr>
      <vt:lpstr>課題 — なぜ作ろうと思ったか</vt:lpstr>
      <vt:lpstr>演算（Reckoning）— growi-docs CLI</vt:lpstr>
      <vt:lpstr>演算（Reckoning）— 自動同期パイプライン</vt:lpstr>
      <vt:lpstr>判断（Judgment）—何を判断したか</vt:lpstr>
      <vt:lpstr>効果とここで起きていたこと</vt:lpstr>
      <vt:lpstr>事例2　AIレビューワークフロー</vt:lpstr>
      <vt:lpstr>課題 — AIレビューだけでは不十分</vt:lpstr>
      <vt:lpstr>判断（Judgment）— レビュー制度を設計する</vt:lpstr>
      <vt:lpstr>判断（Judgment）— 共有すべきこととエージェント設計</vt:lpstr>
      <vt:lpstr>演算（Reckoning）— 判断を通すワークフロー</vt:lpstr>
      <vt:lpstr>効果 — 判断共有と判断育成</vt:lpstr>
      <vt:lpstr>2つの事例が示すパターン</vt:lpstr>
      <vt:lpstr>PowerPoint プレゼンテーション</vt:lpstr>
      <vt:lpstr>結び: 人間が引き受けるべきこと</vt:lpstr>
      <vt:lpstr>将来の展望と最後のループ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1026</cp:revision>
  <cp:lastPrinted>2021-05-06T02:35:10Z</cp:lastPrinted>
  <dcterms:created xsi:type="dcterms:W3CDTF">2020-11-02T06:12:12Z</dcterms:created>
  <dcterms:modified xsi:type="dcterms:W3CDTF">2026-04-02T08:31:14Z</dcterms:modified>
</cp:coreProperties>
</file>