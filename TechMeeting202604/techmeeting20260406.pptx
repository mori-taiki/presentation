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4"/>
  </p:notesMasterIdLst>
  <p:handoutMasterIdLst>
    <p:handoutMasterId r:id="rId35"/>
  </p:handoutMasterIdLst>
  <p:sldIdLst>
    <p:sldId id="318" r:id="rId2"/>
    <p:sldId id="281" r:id="rId3"/>
    <p:sldId id="321" r:id="rId4"/>
    <p:sldId id="323" r:id="rId5"/>
    <p:sldId id="355" r:id="rId6"/>
    <p:sldId id="340" r:id="rId7"/>
    <p:sldId id="356" r:id="rId8"/>
    <p:sldId id="326" r:id="rId9"/>
    <p:sldId id="327" r:id="rId10"/>
    <p:sldId id="330" r:id="rId11"/>
    <p:sldId id="358" r:id="rId12"/>
    <p:sldId id="347" r:id="rId13"/>
    <p:sldId id="348" r:id="rId14"/>
    <p:sldId id="346" r:id="rId15"/>
    <p:sldId id="344" r:id="rId16"/>
    <p:sldId id="359" r:id="rId17"/>
    <p:sldId id="349" r:id="rId18"/>
    <p:sldId id="350" r:id="rId19"/>
    <p:sldId id="332" r:id="rId20"/>
    <p:sldId id="360" r:id="rId21"/>
    <p:sldId id="343" r:id="rId22"/>
    <p:sldId id="342" r:id="rId23"/>
    <p:sldId id="337" r:id="rId24"/>
    <p:sldId id="312" r:id="rId25"/>
    <p:sldId id="319" r:id="rId26"/>
    <p:sldId id="331" r:id="rId27"/>
    <p:sldId id="333" r:id="rId28"/>
    <p:sldId id="357" r:id="rId29"/>
    <p:sldId id="338" r:id="rId30"/>
    <p:sldId id="339" r:id="rId31"/>
    <p:sldId id="334" r:id="rId32"/>
    <p:sldId id="341" r:id="rId3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D000"/>
    <a:srgbClr val="D9D9D9"/>
    <a:srgbClr val="F3271A"/>
    <a:srgbClr val="E6E6E6"/>
    <a:srgbClr val="000000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zenn.dev/baleenstudio/articles/what-is-a-code-review" TargetMode="Externa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判断と演算のループを設計する</a:t>
            </a:r>
          </a:p>
          <a:p>
            <a:r>
              <a:rPr kumimoji="1" lang="ja-JP" altLang="en-US" sz="2000" dirty="0"/>
              <a:t>— AIエージェント活用の2つの事例 —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　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AAFD6A-8F69-762F-CC68-F02F57101B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653300" y="4365104"/>
            <a:ext cx="2146032" cy="24122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 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「作り方を作る」エンジニアリング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Wiki をローカル（Git）で管理すれば何が可能になる？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marL="257173" lvl="1" indent="0">
              <a:buNone/>
            </a:pPr>
            <a:endParaRPr kumimoji="1" lang="ja-JP" altLang="en-US" sz="1600" dirty="0"/>
          </a:p>
          <a:p>
            <a:r>
              <a:rPr lang="ja-JP" altLang="en-US" b="1" dirty="0"/>
              <a:t>結果</a:t>
            </a:r>
          </a:p>
          <a:p>
            <a:pPr lvl="1"/>
            <a:r>
              <a:rPr lang="ja-JP" altLang="en-US" sz="1600" dirty="0"/>
              <a:t>仕様ドキュメントを Git 管理（ 193 ファイルの移行が約３人日</a:t>
            </a:r>
            <a:r>
              <a:rPr lang="ja-JP" altLang="en-US" sz="1200" dirty="0"/>
              <a:t>（片手間）</a:t>
            </a:r>
            <a:r>
              <a:rPr lang="ja-JP" altLang="en-US" sz="1600" dirty="0"/>
              <a:t>で完了）</a:t>
            </a:r>
          </a:p>
          <a:p>
            <a:pPr lvl="1"/>
            <a:r>
              <a:rPr lang="ja-JP" altLang="en-US" sz="1600" b="1" dirty="0"/>
              <a:t>仕様をコードから AI で生成 → 過程でバグも発見</a:t>
            </a:r>
            <a:r>
              <a:rPr lang="ja-JP" altLang="en-US" sz="1600" dirty="0"/>
              <a:t>（SSOT の恩恵）</a:t>
            </a:r>
          </a:p>
          <a:p>
            <a:pPr lvl="1"/>
            <a:r>
              <a:rPr lang="ja-JP" altLang="en-US" sz="1600" dirty="0"/>
              <a:t>コミット履歴で貢献が見える（</a:t>
            </a:r>
            <a:r>
              <a:rPr lang="ja-JP" altLang="en-US" sz="1600" b="1" dirty="0"/>
              <a:t>小さなことに感謝する</a:t>
            </a:r>
            <a:r>
              <a:rPr lang="ja-JP" altLang="en-US" sz="1600" dirty="0"/>
              <a:t>）</a:t>
            </a:r>
            <a:endParaRPr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何をしたかったか？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何を作った？　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EF3FEA9-B607-4C46-39E7-9A5F65B08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960" y="981732"/>
            <a:ext cx="8496300" cy="4894536"/>
          </a:xfrm>
        </p:spPr>
        <p:txBody>
          <a:bodyPr/>
          <a:lstStyle/>
          <a:p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892" y="1427379"/>
            <a:ext cx="7326216" cy="543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何を作った？　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77477-9C47-4C23-E886-9CA14EF6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7F4FFFA-717C-2077-443C-0E519FF16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r>
              <a:rPr kumimoji="1" lang="ja-JP" altLang="en-US" sz="1800" dirty="0"/>
              <a:t>→ selfhost ランナー</a:t>
            </a:r>
          </a:p>
          <a:p>
            <a:pPr lvl="1"/>
            <a:r>
              <a:rPr kumimoji="1" lang="ja-JP" altLang="en-US" sz="1800" dirty="0"/>
              <a:t>Git 画像でリポジトリが重い   </a:t>
            </a:r>
            <a:br>
              <a:rPr kumimoji="1" lang="en-US" altLang="ja-JP" sz="1800" dirty="0"/>
            </a:br>
            <a:r>
              <a:rPr kumimoji="1" lang="ja-JP" altLang="en-US" sz="1800" dirty="0"/>
              <a:t>→ Azure Blob ストレージに保存してリンクを張る</a:t>
            </a:r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r>
              <a:rPr kumimoji="1" lang="ja-JP" altLang="en-US" sz="1800" dirty="0"/>
              <a:t>→ CLI スクリプト + ショートカットで実行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 </a:t>
            </a:r>
            <a:br>
              <a:rPr lang="en-US" altLang="ja-JP" sz="1800" dirty="0"/>
            </a:br>
            <a:r>
              <a:rPr lang="ja-JP" altLang="en-US" sz="1800" dirty="0"/>
              <a:t>→ </a:t>
            </a:r>
            <a:r>
              <a:rPr lang="en-US" altLang="ja-JP" sz="1800" dirty="0" err="1"/>
              <a:t>Growi</a:t>
            </a:r>
            <a:r>
              <a:rPr lang="ja-JP" altLang="en-US" sz="1800" dirty="0"/>
              <a:t>からリポジトリへのの取り込み機能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r>
              <a:rPr lang="ja-JP" altLang="en-US" sz="1800" dirty="0"/>
              <a:t>仕組みを決めてしまえば、</a:t>
            </a:r>
            <a:r>
              <a:rPr lang="en-US" altLang="ja-JP" sz="1800" dirty="0"/>
              <a:t>AI</a:t>
            </a:r>
            <a:r>
              <a:rPr lang="ja-JP" altLang="en-US" sz="1800" dirty="0"/>
              <a:t>🤖がサクッと実装してくれる</a:t>
            </a: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8FCC6D1-762E-B32E-373A-7A37977C8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204249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lvl="1"/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lvl="2"/>
            <a:r>
              <a:rPr lang="en-US" altLang="ja-JP" sz="2000" dirty="0" err="1"/>
              <a:t>Growi</a:t>
            </a:r>
            <a:r>
              <a:rPr lang="ja-JP" altLang="en-US" sz="2000" dirty="0"/>
              <a:t>からの取り込みや、</a:t>
            </a:r>
            <a:r>
              <a:rPr lang="en-US" altLang="ja-JP" sz="2000" dirty="0" err="1"/>
              <a:t>Growi</a:t>
            </a:r>
            <a:r>
              <a:rPr lang="ja-JP" altLang="en-US" sz="2000" dirty="0"/>
              <a:t>への反映は</a:t>
            </a:r>
            <a:br>
              <a:rPr lang="en-US" altLang="ja-JP" sz="2000" dirty="0"/>
            </a:br>
            <a:r>
              <a:rPr lang="ja-JP" altLang="en-US" sz="2000" b="1" dirty="0"/>
              <a:t>決定性が高い操作</a:t>
            </a:r>
            <a:r>
              <a:rPr lang="ja-JP" altLang="en-US" sz="2000" dirty="0"/>
              <a:t>なので、</a:t>
            </a:r>
            <a:r>
              <a:rPr lang="en-US" altLang="ja-JP" sz="2000" dirty="0"/>
              <a:t>AI</a:t>
            </a:r>
            <a:r>
              <a:rPr lang="ja-JP" altLang="en-US" sz="2000" dirty="0"/>
              <a:t>より</a:t>
            </a:r>
            <a:r>
              <a:rPr lang="ja-JP" altLang="en-US" sz="2000" b="1" dirty="0"/>
              <a:t>ツール</a:t>
            </a:r>
            <a:r>
              <a:rPr lang="ja-JP" altLang="en-US" sz="2000" dirty="0"/>
              <a:t>🛠️にする</a:t>
            </a:r>
            <a:br>
              <a:rPr lang="en-US" altLang="ja-JP" sz="2000" dirty="0"/>
            </a:br>
            <a:r>
              <a:rPr lang="en-US" altLang="ja-JP" sz="1600" dirty="0"/>
              <a:t>※</a:t>
            </a:r>
            <a:r>
              <a:rPr lang="ja-JP" altLang="en-US" sz="1600" dirty="0"/>
              <a:t>決定性が高い操作は</a:t>
            </a:r>
            <a:r>
              <a:rPr lang="en-US" altLang="ja-JP" sz="1600" dirty="0"/>
              <a:t>AI</a:t>
            </a:r>
            <a:r>
              <a:rPr lang="ja-JP" altLang="en-US" sz="1600" dirty="0"/>
              <a:t>にやらせると非効率</a:t>
            </a:r>
            <a:endParaRPr lang="en-US" altLang="ja-JP" sz="2000" dirty="0"/>
          </a:p>
          <a:p>
            <a:pPr lvl="1"/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作り方を作る　</a:t>
            </a:r>
            <a:r>
              <a:rPr lang="ja-JP" altLang="en-US" sz="2000" dirty="0"/>
              <a:t>エンジニアリング エンジニアリング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BE5C731-1148-FC00-2B0A-B52D1A379F98}"/>
              </a:ext>
            </a:extLst>
          </p:cNvPr>
          <p:cNvSpPr/>
          <p:nvPr/>
        </p:nvSpPr>
        <p:spPr>
          <a:xfrm>
            <a:off x="596516" y="3933056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AEF935F-3859-1001-6E13-67C04C0B9ABD}"/>
              </a:ext>
            </a:extLst>
          </p:cNvPr>
          <p:cNvSpPr/>
          <p:nvPr/>
        </p:nvSpPr>
        <p:spPr>
          <a:xfrm>
            <a:off x="748916" y="5373216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20ED7B-9C27-7360-4C2E-06C96C63070C}"/>
              </a:ext>
            </a:extLst>
          </p:cNvPr>
          <p:cNvSpPr txBox="1"/>
          <p:nvPr/>
        </p:nvSpPr>
        <p:spPr>
          <a:xfrm>
            <a:off x="888740" y="6392219"/>
            <a:ext cx="8128520" cy="369332"/>
          </a:xfrm>
          <a:prstGeom prst="rect">
            <a:avLst/>
          </a:prstGeom>
          <a:solidFill>
            <a:srgbClr val="FDD000"/>
          </a:solidFill>
        </p:spPr>
        <p:txBody>
          <a:bodyPr wrap="square">
            <a:spAutoFit/>
          </a:bodyPr>
          <a:lstStyle/>
          <a:p>
            <a:pPr marL="257173" lvl="1" indent="0">
              <a:buNone/>
            </a:pPr>
            <a:r>
              <a:rPr lang="ja-JP" altLang="en-US" sz="1800" dirty="0"/>
              <a:t>↑</a:t>
            </a:r>
            <a:r>
              <a:rPr lang="ja-JP" altLang="en-US" dirty="0"/>
              <a:t>課題</a:t>
            </a:r>
            <a:r>
              <a:rPr lang="ja-JP" altLang="en-US" sz="1800" dirty="0"/>
              <a:t>や制約をもとに仕組みを設計する過程＝</a:t>
            </a:r>
            <a:r>
              <a:rPr lang="ja-JP" altLang="en-US" sz="1800" b="1" dirty="0"/>
              <a:t>エンジニアリング</a:t>
            </a:r>
            <a:r>
              <a:rPr lang="ja-JP" altLang="en-US" sz="1800" dirty="0"/>
              <a:t>そのもの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kumimoji="1" lang="ja-JP" altLang="en-US" sz="1300" dirty="0"/>
              <a:t>「</a:t>
            </a:r>
            <a:r>
              <a:rPr lang="ja-JP" altLang="en-US" sz="1400" dirty="0"/>
              <a:t>育て方を作る</a:t>
            </a:r>
            <a:r>
              <a:rPr kumimoji="1" lang="ja-JP" altLang="en-US" sz="1300" dirty="0"/>
              <a:t>」</a:t>
            </a:r>
            <a:r>
              <a:rPr lang="ja-JP" altLang="en-US" dirty="0"/>
              <a:t>エンジニアリング エンジニアリング エンジニアリング</a:t>
            </a:r>
            <a:endParaRPr kumimoji="1" lang="ja-JP" alt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A21D1D-4EA0-A8E6-C371-22C2CE587400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C6DBCCD-2083-B397-85C8-B3CB96200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48" y="4258794"/>
            <a:ext cx="9259592" cy="19433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F0C8-9FB4-6E68-5627-B9FE0B65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57467288-6E0A-C50B-F995-8DDD0B47C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実践例：レビュー</a:t>
            </a:r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7EC33228-5A56-DFF1-DC9C-11F2E64CC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104" y="1279567"/>
            <a:ext cx="8496300" cy="4894536"/>
          </a:xfrm>
        </p:spPr>
        <p:txBody>
          <a:bodyPr/>
          <a:lstStyle/>
          <a:p>
            <a:endParaRPr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92ADB9A0-BB6C-31D4-4A7C-148B893D7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16" y="2331233"/>
            <a:ext cx="2553056" cy="138131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C289118-D9E7-B21F-BC04-C7DCBBBB1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079" y="3132230"/>
            <a:ext cx="7488832" cy="3302575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185FB3B-AD72-52DA-7CB2-11C89E453F4A}"/>
              </a:ext>
            </a:extLst>
          </p:cNvPr>
          <p:cNvSpPr txBox="1"/>
          <p:nvPr/>
        </p:nvSpPr>
        <p:spPr>
          <a:xfrm>
            <a:off x="3026786" y="2408566"/>
            <a:ext cx="38524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シェルスクリプト</a:t>
            </a:r>
            <a:r>
              <a:rPr lang="ja-JP" altLang="en-US" dirty="0"/>
              <a:t>🛠️</a:t>
            </a:r>
            <a:endParaRPr kumimoji="1" lang="en-US" altLang="ja-JP" dirty="0"/>
          </a:p>
          <a:p>
            <a:r>
              <a:rPr kumimoji="1" lang="ja-JP" altLang="en-US" dirty="0"/>
              <a:t>でベースブランチとの差分を収集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C1EAAB7E-CAF5-F3DB-1926-566D2719A6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104" y="1289879"/>
            <a:ext cx="3248478" cy="79068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A8CD5C-A387-8BEC-FB32-2CC163AA90B9}"/>
              </a:ext>
            </a:extLst>
          </p:cNvPr>
          <p:cNvSpPr txBox="1"/>
          <p:nvPr/>
        </p:nvSpPr>
        <p:spPr>
          <a:xfrm>
            <a:off x="3672366" y="1315889"/>
            <a:ext cx="53130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←レビュー用ワークスペースディレクトリ</a:t>
            </a:r>
            <a:br>
              <a:rPr kumimoji="1" lang="en-US" altLang="ja-JP" dirty="0"/>
            </a:br>
            <a:r>
              <a:rPr kumimoji="1" lang="en-US" altLang="ja-JP" sz="1400" dirty="0"/>
              <a:t>※</a:t>
            </a:r>
            <a:r>
              <a:rPr kumimoji="1" lang="en-US" altLang="ja-JP" sz="1400" dirty="0" err="1"/>
              <a:t>gitignore</a:t>
            </a:r>
            <a:r>
              <a:rPr kumimoji="1" lang="ja-JP" altLang="en-US" sz="1400" dirty="0"/>
              <a:t>に入れてるし、もちろん</a:t>
            </a:r>
            <a:r>
              <a:rPr kumimoji="1" lang="en-US" altLang="ja-JP" sz="1400" dirty="0" err="1"/>
              <a:t>worktree</a:t>
            </a:r>
            <a:r>
              <a:rPr kumimoji="1" lang="ja-JP" altLang="en-US" sz="1400" dirty="0"/>
              <a:t>なら</a:t>
            </a:r>
            <a:r>
              <a:rPr lang="ja-JP" altLang="en-US" sz="1400" dirty="0"/>
              <a:t>勝手</a:t>
            </a:r>
            <a:r>
              <a:rPr kumimoji="1" lang="ja-JP" altLang="en-US" sz="1400" dirty="0"/>
              <a:t>に消える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0642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65206-52AA-6C96-F47E-455ED25B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F45F9D3-FA06-2679-6636-C8772B9A9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901CF3F-765F-312F-E94E-3B9512AB8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868" y="1440883"/>
            <a:ext cx="9222306" cy="509674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E9730A-68C8-417B-2D86-1CE6EBB31331}"/>
              </a:ext>
            </a:extLst>
          </p:cNvPr>
          <p:cNvSpPr txBox="1"/>
          <p:nvPr/>
        </p:nvSpPr>
        <p:spPr>
          <a:xfrm>
            <a:off x="596516" y="1071551"/>
            <a:ext cx="5004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🤖仕様情報収集して</a:t>
            </a:r>
            <a:r>
              <a:rPr lang="en-US" altLang="ja-JP" dirty="0"/>
              <a:t>md</a:t>
            </a:r>
            <a:r>
              <a:rPr lang="ja-JP" altLang="en-US" dirty="0"/>
              <a:t>ファイルにまとめる</a:t>
            </a:r>
            <a:endParaRPr kumimoji="1" lang="ja-JP" altLang="en-US" dirty="0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9D42FEAA-6948-C33C-2933-3D9DA9919CE0}"/>
              </a:ext>
            </a:extLst>
          </p:cNvPr>
          <p:cNvSpPr/>
          <p:nvPr/>
        </p:nvSpPr>
        <p:spPr>
          <a:xfrm>
            <a:off x="429954" y="1661200"/>
            <a:ext cx="1138670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D3890E9-5AD4-7994-33B0-B2CCBCE28431}"/>
              </a:ext>
            </a:extLst>
          </p:cNvPr>
          <p:cNvSpPr/>
          <p:nvPr/>
        </p:nvSpPr>
        <p:spPr>
          <a:xfrm>
            <a:off x="452500" y="2420888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2BB2B74-96B5-30CD-DA07-38632C3CC51B}"/>
              </a:ext>
            </a:extLst>
          </p:cNvPr>
          <p:cNvSpPr/>
          <p:nvPr/>
        </p:nvSpPr>
        <p:spPr>
          <a:xfrm>
            <a:off x="452500" y="3959153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4731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メインエージェント🤖は</a:t>
            </a:r>
            <a:endParaRPr lang="en-US" altLang="ja-JP" dirty="0"/>
          </a:p>
          <a:p>
            <a:r>
              <a:rPr lang="ja-JP" altLang="en-US" dirty="0"/>
              <a:t>レビュー用</a:t>
            </a:r>
            <a:r>
              <a:rPr lang="ja-JP" altLang="en-US" b="1" dirty="0"/>
              <a:t>サブ</a:t>
            </a:r>
            <a:r>
              <a:rPr lang="ja-JP" altLang="en-US" dirty="0"/>
              <a:t>エージェント🤖🤖🤖🤖🤖🤖を起動する</a:t>
            </a:r>
            <a:endParaRPr lang="en-US" altLang="ja-JP" dirty="0"/>
          </a:p>
          <a:p>
            <a:r>
              <a:rPr lang="ja-JP" altLang="en-US" dirty="0"/>
              <a:t>（仕様コンテキストと差分をファイル参照させる）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2600908"/>
            <a:ext cx="8496300" cy="30854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0A95B-8A58-B976-A2CA-7EEDDD9B5E95}"/>
              </a:ext>
            </a:extLst>
          </p:cNvPr>
          <p:cNvSpPr txBox="1"/>
          <p:nvPr/>
        </p:nvSpPr>
        <p:spPr>
          <a:xfrm>
            <a:off x="3188804" y="5807632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↑🤖レビュー観点毎に専門エージェントを定義している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B36E846-A20B-5D89-7461-95B1DF770473}"/>
              </a:ext>
            </a:extLst>
          </p:cNvPr>
          <p:cNvSpPr/>
          <p:nvPr/>
        </p:nvSpPr>
        <p:spPr>
          <a:xfrm>
            <a:off x="956556" y="28853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567534-A3CD-0EB3-7BC1-8C4AE3442E62}"/>
              </a:ext>
            </a:extLst>
          </p:cNvPr>
          <p:cNvSpPr/>
          <p:nvPr/>
        </p:nvSpPr>
        <p:spPr>
          <a:xfrm>
            <a:off x="970128" y="3310841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AB2E0D9-8077-9057-A1D4-CD3984948BB9}"/>
              </a:ext>
            </a:extLst>
          </p:cNvPr>
          <p:cNvSpPr/>
          <p:nvPr/>
        </p:nvSpPr>
        <p:spPr>
          <a:xfrm>
            <a:off x="956556" y="37854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E1B3BB4-A6B2-017D-8225-4D1DE6053391}"/>
              </a:ext>
            </a:extLst>
          </p:cNvPr>
          <p:cNvSpPr/>
          <p:nvPr/>
        </p:nvSpPr>
        <p:spPr>
          <a:xfrm>
            <a:off x="956556" y="42570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795918F-7795-032A-266E-43568F901604}"/>
              </a:ext>
            </a:extLst>
          </p:cNvPr>
          <p:cNvSpPr/>
          <p:nvPr/>
        </p:nvSpPr>
        <p:spPr>
          <a:xfrm>
            <a:off x="956556" y="472874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644AC9A-AA87-B401-6DEC-69D9B5C79BBB}"/>
              </a:ext>
            </a:extLst>
          </p:cNvPr>
          <p:cNvSpPr/>
          <p:nvPr/>
        </p:nvSpPr>
        <p:spPr>
          <a:xfrm>
            <a:off x="956556" y="51895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2A717D-E28F-670F-0C9D-039BB1D6A89F}"/>
              </a:ext>
            </a:extLst>
          </p:cNvPr>
          <p:cNvSpPr txBox="1"/>
          <p:nvPr/>
        </p:nvSpPr>
        <p:spPr>
          <a:xfrm>
            <a:off x="793814" y="6186347"/>
            <a:ext cx="73275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今回は６エージェントだが、毎回全部見なくてもいいようにいくつかのパターンを用意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746735D-95D9-8108-3623-0DF892B9C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60" y="1418596"/>
            <a:ext cx="8478488" cy="303542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0" y="4742019"/>
            <a:ext cx="3124636" cy="1667108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AB91FD7-7833-DB4F-2BC7-D36489CE23F8}"/>
              </a:ext>
            </a:extLst>
          </p:cNvPr>
          <p:cNvSpPr/>
          <p:nvPr/>
        </p:nvSpPr>
        <p:spPr>
          <a:xfrm>
            <a:off x="560512" y="1554185"/>
            <a:ext cx="1584176" cy="18262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35E428-17E5-5855-C440-8C862904EDCF}"/>
              </a:ext>
            </a:extLst>
          </p:cNvPr>
          <p:cNvSpPr txBox="1"/>
          <p:nvPr/>
        </p:nvSpPr>
        <p:spPr>
          <a:xfrm>
            <a:off x="344488" y="999505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↓🤖</a:t>
            </a:r>
            <a:r>
              <a:rPr lang="ja-JP" altLang="en-US" b="1" dirty="0"/>
              <a:t>サブ</a:t>
            </a:r>
            <a:r>
              <a:rPr lang="ja-JP" altLang="en-US" dirty="0"/>
              <a:t>サブエージェントは</a:t>
            </a:r>
            <a:r>
              <a:rPr lang="en-US" altLang="ja-JP" dirty="0"/>
              <a:t>Json</a:t>
            </a:r>
            <a:r>
              <a:rPr lang="ja-JP" altLang="en-US" dirty="0"/>
              <a:t>でレビュー結果を返す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D31438-5531-5207-CF07-DCD8E5234398}"/>
              </a:ext>
            </a:extLst>
          </p:cNvPr>
          <p:cNvSpPr txBox="1"/>
          <p:nvPr/>
        </p:nvSpPr>
        <p:spPr>
          <a:xfrm>
            <a:off x="3561820" y="4836909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←🤖メインエージェントは</a:t>
            </a:r>
            <a:r>
              <a:rPr lang="en-US" altLang="ja-JP" dirty="0"/>
              <a:t>Json</a:t>
            </a:r>
            <a:r>
              <a:rPr lang="ja-JP" altLang="en-US" dirty="0"/>
              <a:t>を読み取って集計する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4B2A42D-826F-7CD5-DB9C-7D72E3BA3DAD}"/>
              </a:ext>
            </a:extLst>
          </p:cNvPr>
          <p:cNvSpPr txBox="1"/>
          <p:nvPr/>
        </p:nvSpPr>
        <p:spPr>
          <a:xfrm>
            <a:off x="3875668" y="5206241"/>
            <a:ext cx="4951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集計観点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指摘の重複を整理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組み合わせによる深刻度が上昇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対立する指摘（トレードオフ）</a:t>
            </a:r>
            <a:endParaRPr lang="en-US" altLang="ja-JP" dirty="0"/>
          </a:p>
          <a:p>
            <a:r>
              <a:rPr lang="ja-JP" altLang="en-US" dirty="0"/>
              <a:t>次のステップで人間に質問する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5" name="コンテンツ プレースホルダー 14">
            <a:extLst>
              <a:ext uri="{FF2B5EF4-FFF2-40B4-BE49-F238E27FC236}">
                <a16:creationId xmlns:a16="http://schemas.microsoft.com/office/drawing/2014/main" id="{C37C9A4F-037E-076F-5DB7-0EE2E2DBD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8" y="3939344"/>
            <a:ext cx="9765124" cy="1491431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3C5AF0D-E83F-5586-55CD-53DB2E784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2" y="1417159"/>
            <a:ext cx="9906000" cy="184114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3A06A-707F-FDD2-1204-4BB45DFC475D}"/>
              </a:ext>
            </a:extLst>
          </p:cNvPr>
          <p:cNvSpPr txBox="1"/>
          <p:nvPr/>
        </p:nvSpPr>
        <p:spPr>
          <a:xfrm>
            <a:off x="344488" y="104782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🤖指摘の概要を説明し、</a:t>
            </a:r>
            <a:r>
              <a:rPr lang="en-US" altLang="ja-JP" dirty="0"/>
              <a:t>PR</a:t>
            </a:r>
            <a:r>
              <a:rPr lang="ja-JP" altLang="en-US" dirty="0"/>
              <a:t>にコメントするかを人間に聞く</a:t>
            </a:r>
            <a:endParaRPr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BF305-8AF0-3EF6-3F5C-00AE6EC9B505}"/>
              </a:ext>
            </a:extLst>
          </p:cNvPr>
          <p:cNvSpPr txBox="1"/>
          <p:nvPr/>
        </p:nvSpPr>
        <p:spPr>
          <a:xfrm>
            <a:off x="387224" y="3415029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↑人間が判断して回答🙆🙅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CCECC5C-8834-8C34-7A0C-ADC30B6C2945}"/>
              </a:ext>
            </a:extLst>
          </p:cNvPr>
          <p:cNvSpPr txBox="1"/>
          <p:nvPr/>
        </p:nvSpPr>
        <p:spPr>
          <a:xfrm>
            <a:off x="336308" y="5585758"/>
            <a:ext cx="6825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🤖この時点ではまだ指摘は</a:t>
            </a:r>
            <a:r>
              <a:rPr lang="en-US" altLang="ja-JP" dirty="0"/>
              <a:t>PR</a:t>
            </a:r>
            <a:r>
              <a:rPr lang="ja-JP" altLang="en-US" dirty="0"/>
              <a:t>に反映しない（人間の判断を待つ）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98F7D8F-CED5-B24C-C3E0-68DA542D14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5991"/>
          <a:stretch>
            <a:fillRect/>
          </a:stretch>
        </p:blipFill>
        <p:spPr>
          <a:xfrm>
            <a:off x="344488" y="5965338"/>
            <a:ext cx="6697010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B5BA-44D4-88CF-8FFD-A2104C74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3993B315-C25D-991D-BD8C-C70FD51E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D358F89-041E-8728-7970-D28C2A461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4" y="1446742"/>
            <a:ext cx="8892988" cy="5459453"/>
          </a:xfrm>
          <a:prstGeom prst="rect">
            <a:avLst/>
          </a:prstGeom>
        </p:spPr>
      </p:pic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2084D0-DFDD-249C-BB00-2ACE4C91D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472" y="981732"/>
            <a:ext cx="8496300" cy="4894536"/>
          </a:xfrm>
        </p:spPr>
        <p:txBody>
          <a:bodyPr/>
          <a:lstStyle/>
          <a:p>
            <a:r>
              <a:rPr lang="ja-JP" altLang="en-US" dirty="0"/>
              <a:t>レビュー成果は</a:t>
            </a:r>
            <a:r>
              <a:rPr lang="en-US" altLang="ja-JP" dirty="0"/>
              <a:t>md</a:t>
            </a:r>
            <a:r>
              <a:rPr lang="ja-JP" altLang="en-US" dirty="0"/>
              <a:t>ファイルとして残る</a:t>
            </a:r>
          </a:p>
        </p:txBody>
      </p:sp>
    </p:spTree>
    <p:extLst>
      <p:ext uri="{BB962C8B-B14F-4D97-AF65-F5344CB8AC3E}">
        <p14:creationId xmlns:p14="http://schemas.microsoft.com/office/powerpoint/2010/main" val="1699559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774938-0DF1-5EBA-B508-BA2472B4A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/>
          </a:p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50DA598-5032-E479-7BF1-18DCF503A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94420"/>
            <a:ext cx="6697010" cy="108600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924E9D0-BDEF-3F84-7250-828B7A0DA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230240"/>
            <a:ext cx="9906000" cy="2422896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210D96A-FC6F-2431-88CE-F0BA47C4D4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306" y="3583041"/>
            <a:ext cx="7125694" cy="3267531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E9608-1C20-0FA2-D56D-F6A63501E2D4}"/>
              </a:ext>
            </a:extLst>
          </p:cNvPr>
          <p:cNvSpPr txBox="1"/>
          <p:nvPr/>
        </p:nvSpPr>
        <p:spPr>
          <a:xfrm>
            <a:off x="563062" y="4804291"/>
            <a:ext cx="234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b="1" dirty="0"/>
              <a:t>Pending</a:t>
            </a:r>
            <a:r>
              <a:rPr lang="ja-JP" altLang="en-US" dirty="0"/>
              <a:t>状態で</a:t>
            </a:r>
            <a:r>
              <a:rPr lang="en-US" altLang="ja-JP" dirty="0"/>
              <a:t>PR</a:t>
            </a:r>
            <a:r>
              <a:rPr lang="ja-JP" altLang="en-US" dirty="0"/>
              <a:t>に反映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5ECA42-B7B5-AB00-21FA-15417B8674E4}"/>
              </a:ext>
            </a:extLst>
          </p:cNvPr>
          <p:cNvSpPr txBox="1"/>
          <p:nvPr/>
        </p:nvSpPr>
        <p:spPr>
          <a:xfrm>
            <a:off x="563062" y="5464261"/>
            <a:ext cx="221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🧑‍💻書きぶりの修正をして、</a:t>
            </a:r>
            <a:r>
              <a:rPr lang="en-US" altLang="ja-JP" dirty="0"/>
              <a:t>Submit</a:t>
            </a:r>
            <a:endParaRPr lang="ja-JP" altLang="en-US" dirty="0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A866D08-3E2F-121D-7269-E17C1AF89519}"/>
              </a:ext>
            </a:extLst>
          </p:cNvPr>
          <p:cNvSpPr/>
          <p:nvPr/>
        </p:nvSpPr>
        <p:spPr>
          <a:xfrm>
            <a:off x="8301371" y="4293096"/>
            <a:ext cx="1252203" cy="25202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17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ワークフローの概要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1FCAA6E-D663-611D-BCE2-2D25035A5A0A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作者が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900A281E-2C0C-98CE-5C72-5BB77CDE8F13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C0C184A-AEA5-0447-91E0-ED85D7F7E0FB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1A457E5-9F18-B859-0EB7-3B174CF4069C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1C3264E-1373-22D0-5023-F3EB6F45E5C7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E0CE6D1-25AC-EF84-18C6-3992CD5D8E11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C8B2DE-AB29-A6BF-66D4-DEA7E3BD6EE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52D068A-F0AE-A905-DD6B-6C22DE75640E}"/>
              </a:ext>
            </a:extLst>
          </p:cNvPr>
          <p:cNvSpPr txBox="1"/>
          <p:nvPr/>
        </p:nvSpPr>
        <p:spPr>
          <a:xfrm>
            <a:off x="2523122" y="5797902"/>
            <a:ext cx="264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 lnSpcReduction="10000"/>
          </a:bodyPr>
          <a:lstStyle/>
          <a:p>
            <a:r>
              <a:rPr lang="ja-JP" altLang="en-US" sz="1500" b="1" dirty="0"/>
              <a:t>レビューの役割とは</a:t>
            </a:r>
            <a:endParaRPr kumimoji="1" lang="ja-JP" altLang="en-US" sz="1500" b="1" dirty="0"/>
          </a:p>
          <a:p>
            <a:pPr lvl="1"/>
            <a:r>
              <a:rPr kumimoji="1" lang="ja-JP" altLang="en-US" sz="1500" dirty="0"/>
              <a:t>自動化可能な欠陥検出は前段（リンタ・自動テスト・静的解析）へ</a:t>
            </a:r>
            <a:endParaRPr kumimoji="1" lang="en-US" altLang="ja-JP" sz="1500" dirty="0"/>
          </a:p>
          <a:p>
            <a:pPr lvl="2"/>
            <a:r>
              <a:rPr lang="ja-JP" altLang="en-US" sz="1500" dirty="0"/>
              <a:t>そもそも</a:t>
            </a:r>
            <a:r>
              <a:rPr lang="ja-JP" altLang="en-US" sz="1500" b="1" dirty="0"/>
              <a:t>シフトレフトできる設計が重要</a:t>
            </a:r>
            <a:endParaRPr kumimoji="1" lang="en-US" altLang="ja-JP" sz="1500" b="1" dirty="0"/>
          </a:p>
          <a:p>
            <a:pPr lvl="1"/>
            <a:endParaRPr kumimoji="1" lang="en-US" altLang="ja-JP" sz="1500" dirty="0"/>
          </a:p>
          <a:p>
            <a:pPr lvl="1"/>
            <a:r>
              <a:rPr kumimoji="1" lang="ja-JP" altLang="en-US" sz="1500" dirty="0"/>
              <a:t>レビューは</a:t>
            </a:r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>
                <a:hlinkClick r:id="rId2"/>
              </a:rPr>
              <a:t>コードレビューとは何か</a:t>
            </a:r>
            <a:endParaRPr lang="ja-JP" altLang="en-US" dirty="0"/>
          </a:p>
          <a:p>
            <a:endParaRPr kumimoji="1" lang="en-US" altLang="ja-JP" sz="1500" b="1" dirty="0"/>
          </a:p>
          <a:p>
            <a:r>
              <a:rPr kumimoji="1" lang="ja-JP" altLang="en-US" sz="1500" b="1" dirty="0"/>
              <a:t>それぞれの責任</a:t>
            </a:r>
          </a:p>
          <a:p>
            <a:pPr lvl="1"/>
            <a:r>
              <a:rPr kumimoji="1" lang="ja-JP" altLang="en-US" sz="1500" dirty="0"/>
              <a:t>筆者</a:t>
            </a:r>
            <a:r>
              <a:rPr lang="ja-JP" altLang="en-US" sz="1400" dirty="0"/>
              <a:t>🧑‍💻</a:t>
            </a:r>
            <a:r>
              <a:rPr kumimoji="1" lang="ja-JP" altLang="en-US" sz="1500" dirty="0"/>
              <a:t>：変更を内面化する、トレードオフを評価して</a:t>
            </a:r>
            <a:r>
              <a:rPr kumimoji="1" lang="ja-JP" altLang="en-US" sz="1500" b="1" dirty="0"/>
              <a:t>設計判断</a:t>
            </a:r>
            <a:r>
              <a:rPr kumimoji="1" lang="ja-JP" altLang="en-US" sz="1500" dirty="0"/>
              <a:t>する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レビュワー</a:t>
            </a:r>
            <a:r>
              <a:rPr lang="ja-JP" altLang="en-US" sz="1400" dirty="0"/>
              <a:t>🧑‍💻</a:t>
            </a:r>
            <a:r>
              <a:rPr lang="ja-JP" altLang="en-US" sz="1500" dirty="0"/>
              <a:t>：変更を内面化する、設計判断を評価する</a:t>
            </a:r>
            <a:endParaRPr lang="en-US" altLang="ja-JP" sz="1500" dirty="0"/>
          </a:p>
          <a:p>
            <a:pPr lvl="1"/>
            <a:r>
              <a:rPr lang="ja-JP" altLang="en-US" sz="1500" dirty="0"/>
              <a:t>チーム</a:t>
            </a:r>
            <a:r>
              <a:rPr lang="ja-JP" altLang="en-US" sz="1600" dirty="0"/>
              <a:t>🧑‍💻🧑‍💻🧑‍💻</a:t>
            </a:r>
            <a:r>
              <a:rPr lang="ja-JP" altLang="en-US" sz="1500" dirty="0"/>
              <a:t>：判断を言語化して、</a:t>
            </a:r>
            <a:r>
              <a:rPr lang="en-US" altLang="ja-JP" sz="1500" dirty="0"/>
              <a:t>md</a:t>
            </a:r>
            <a:r>
              <a:rPr lang="ja-JP" altLang="en-US" sz="1500" dirty="0"/>
              <a:t>ファイルに落とし込む</a:t>
            </a:r>
            <a:endParaRPr lang="en-US" altLang="ja-JP" sz="1500" dirty="0"/>
          </a:p>
          <a:p>
            <a:pPr lvl="2"/>
            <a:r>
              <a:rPr lang="ja-JP" altLang="en-US" sz="1500" dirty="0"/>
              <a:t>そうすれば</a:t>
            </a:r>
            <a:r>
              <a:rPr lang="en-US" altLang="ja-JP" sz="1500" dirty="0"/>
              <a:t>AI</a:t>
            </a:r>
            <a:r>
              <a:rPr lang="ja-JP" altLang="en-US" sz="1500" dirty="0"/>
              <a:t>が見れるので</a:t>
            </a:r>
            <a:r>
              <a:rPr lang="ja-JP" altLang="en-US" sz="1500" b="1" dirty="0"/>
              <a:t>スケール</a:t>
            </a:r>
            <a:r>
              <a:rPr lang="ja-JP" altLang="en-US" sz="1500" dirty="0"/>
              <a:t>する（逆に、個人に頼るとスケールしない）</a:t>
            </a:r>
            <a:endParaRPr lang="en-US" altLang="ja-JP" sz="1500" dirty="0"/>
          </a:p>
          <a:p>
            <a:pPr lvl="1"/>
            <a:r>
              <a:rPr kumimoji="1" lang="en-US" altLang="ja-JP" sz="1500" dirty="0"/>
              <a:t>AI</a:t>
            </a:r>
            <a:r>
              <a:rPr lang="ja-JP" altLang="en-US" sz="1600" dirty="0"/>
              <a:t>🤖</a:t>
            </a:r>
            <a:r>
              <a:rPr kumimoji="1" lang="ja-JP" altLang="en-US" sz="1500" dirty="0"/>
              <a:t>：</a:t>
            </a:r>
            <a:r>
              <a:rPr kumimoji="1" lang="en-US" altLang="ja-JP" sz="1500" dirty="0"/>
              <a:t>md</a:t>
            </a:r>
            <a:r>
              <a:rPr kumimoji="1" lang="ja-JP" altLang="en-US" sz="1500" dirty="0"/>
              <a:t>ファイルに</a:t>
            </a:r>
            <a:r>
              <a:rPr kumimoji="1" lang="ja-JP" altLang="en-US" sz="1500" b="1" dirty="0"/>
              <a:t>言語化済み</a:t>
            </a:r>
            <a:r>
              <a:rPr kumimoji="1" lang="ja-JP" altLang="en-US" sz="1500" dirty="0"/>
              <a:t>の判断が一貫されているか網羅する</a:t>
            </a:r>
            <a:br>
              <a:rPr kumimoji="1" lang="en-US" altLang="ja-JP" sz="1500" dirty="0"/>
            </a:br>
            <a:r>
              <a:rPr kumimoji="1" lang="ja-JP" altLang="en-US" sz="1500" dirty="0"/>
              <a:t>　　　トレードオフ</a:t>
            </a:r>
            <a:r>
              <a:rPr lang="ja-JP" altLang="en-US" sz="1500" dirty="0"/>
              <a:t>がある場合は、</a:t>
            </a:r>
            <a:r>
              <a:rPr kumimoji="1" lang="ja-JP" altLang="en-US" sz="1500" dirty="0"/>
              <a:t>サジェストする</a:t>
            </a:r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コードレビューとはなにか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79E18367-E8D4-39B4-E3D2-E507EA67858B}"/>
              </a:ext>
            </a:extLst>
          </p:cNvPr>
          <p:cNvSpPr/>
          <p:nvPr/>
        </p:nvSpPr>
        <p:spPr>
          <a:xfrm>
            <a:off x="5421052" y="1160748"/>
            <a:ext cx="3996444" cy="418381"/>
          </a:xfrm>
          <a:prstGeom prst="wedgeRectCallout">
            <a:avLst>
              <a:gd name="adj1" fmla="val -30394"/>
              <a:gd name="adj2" fmla="val 92960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コードレビューはバグ探しではない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11178968-5063-1A3B-F8BC-812CA141B413}"/>
              </a:ext>
            </a:extLst>
          </p:cNvPr>
          <p:cNvSpPr/>
          <p:nvPr/>
        </p:nvSpPr>
        <p:spPr>
          <a:xfrm>
            <a:off x="5171792" y="2204864"/>
            <a:ext cx="4245704" cy="418381"/>
          </a:xfrm>
          <a:prstGeom prst="wedgeRectCallout">
            <a:avLst>
              <a:gd name="adj1" fmla="val -55334"/>
              <a:gd name="adj2" fmla="val -42545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レビューで見つかるのは基本遅すぎる</a:t>
            </a:r>
            <a:endParaRPr kumimoji="1" lang="ja-JP" altLang="en-US" dirty="0"/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F4EED5A9-17F6-8A21-3B95-50E5EFB479E0}"/>
              </a:ext>
            </a:extLst>
          </p:cNvPr>
          <p:cNvSpPr/>
          <p:nvPr/>
        </p:nvSpPr>
        <p:spPr>
          <a:xfrm>
            <a:off x="4484948" y="3545682"/>
            <a:ext cx="4605744" cy="418381"/>
          </a:xfrm>
          <a:prstGeom prst="wedgeRectCallout">
            <a:avLst>
              <a:gd name="adj1" fmla="val -21090"/>
              <a:gd name="adj2" fmla="val 97331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すべての設計判断はトレードオフに基づく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BEBEC-AF90-B5CB-023A-A9CF0A81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D4CDC0-E09E-F8AB-DBC0-554DEBA37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139" y="1676206"/>
            <a:ext cx="8496300" cy="3116527"/>
          </a:xfrm>
        </p:spPr>
        <p:txBody>
          <a:bodyPr>
            <a:normAutofit lnSpcReduction="10000"/>
          </a:bodyPr>
          <a:lstStyle/>
          <a:p>
            <a:r>
              <a:rPr lang="en-US" altLang="ja-JP" b="1" dirty="0"/>
              <a:t>AI</a:t>
            </a:r>
            <a:r>
              <a:rPr lang="ja-JP" altLang="en-US" b="1" dirty="0"/>
              <a:t>が優秀になったことで陥りがちな状況</a:t>
            </a:r>
            <a:endParaRPr kumimoji="1" lang="ja-JP" altLang="en-US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が出力した実装を、</a:t>
            </a:r>
            <a:br>
              <a:rPr lang="en-US" altLang="ja-JP" sz="1600" dirty="0"/>
            </a:br>
            <a:r>
              <a:rPr lang="ja-JP" altLang="en-US" sz="1600" dirty="0"/>
              <a:t>筆者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が「動いてるから」でレビューに出してくる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が出した指摘を</a:t>
            </a:r>
            <a:br>
              <a:rPr lang="en-US" altLang="ja-JP" sz="1600" dirty="0"/>
            </a:br>
            <a:r>
              <a:rPr lang="ja-JP" altLang="en-US" sz="1600" dirty="0"/>
              <a:t>レビュワー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が理解もせずにたくさん指摘してくる</a:t>
            </a:r>
            <a:endParaRPr lang="en-US" altLang="ja-JP" sz="1600" dirty="0"/>
          </a:p>
          <a:p>
            <a:endParaRPr lang="en-US" altLang="ja-JP" sz="1500" b="1" dirty="0"/>
          </a:p>
          <a:p>
            <a:endParaRPr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08BC273-5357-6783-E7B8-42ECEF62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この仕組みの効果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DD005DB7-4D6B-EF47-15A3-96224F1BC6C7}"/>
              </a:ext>
            </a:extLst>
          </p:cNvPr>
          <p:cNvSpPr/>
          <p:nvPr/>
        </p:nvSpPr>
        <p:spPr>
          <a:xfrm>
            <a:off x="4287218" y="1497352"/>
            <a:ext cx="3996444" cy="576064"/>
          </a:xfrm>
          <a:prstGeom prst="wedgeRectCallout">
            <a:avLst>
              <a:gd name="adj1" fmla="val -35884"/>
              <a:gd name="adj2" fmla="val 99644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これが良くないのは</a:t>
            </a:r>
            <a:endParaRPr lang="en-US" altLang="ja-JP" dirty="0"/>
          </a:p>
          <a:p>
            <a:pPr algn="ctr"/>
            <a:r>
              <a:rPr lang="en-US" altLang="ja-JP" dirty="0"/>
              <a:t>AI</a:t>
            </a:r>
            <a:r>
              <a:rPr lang="ja-JP" altLang="en-US" dirty="0"/>
              <a:t>が</a:t>
            </a:r>
            <a:r>
              <a:rPr lang="ja-JP" altLang="en-US" b="1" dirty="0"/>
              <a:t>間違うからではない</a:t>
            </a:r>
            <a:endParaRPr kumimoji="1" lang="ja-JP" altLang="en-US" b="1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A560663D-FB43-3686-5229-521018B76E29}"/>
              </a:ext>
            </a:extLst>
          </p:cNvPr>
          <p:cNvSpPr/>
          <p:nvPr/>
        </p:nvSpPr>
        <p:spPr>
          <a:xfrm>
            <a:off x="2848683" y="3623207"/>
            <a:ext cx="4608512" cy="412451"/>
          </a:xfrm>
          <a:prstGeom prst="wedgeRectCallout">
            <a:avLst>
              <a:gd name="adj1" fmla="val -33424"/>
              <a:gd name="adj2" fmla="val 108121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が優秀なことによる無力感もわかるが</a:t>
            </a:r>
            <a:r>
              <a:rPr lang="en-US" altLang="ja-JP" dirty="0"/>
              <a:t>…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58FEA702-B3EC-24B4-B000-3A235D6472C0}"/>
              </a:ext>
            </a:extLst>
          </p:cNvPr>
          <p:cNvSpPr/>
          <p:nvPr/>
        </p:nvSpPr>
        <p:spPr>
          <a:xfrm>
            <a:off x="922236" y="4875502"/>
            <a:ext cx="4608512" cy="657806"/>
          </a:xfrm>
          <a:prstGeom prst="wedgeRectCallout">
            <a:avLst>
              <a:gd name="adj1" fmla="val 23717"/>
              <a:gd name="adj2" fmla="val -92142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そもそも、設計とは</a:t>
            </a:r>
            <a:r>
              <a:rPr lang="ja-JP" altLang="en-US" b="1" dirty="0"/>
              <a:t>トレードオフ</a:t>
            </a:r>
            <a:r>
              <a:rPr lang="ja-JP" altLang="en-US" dirty="0"/>
              <a:t>である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C5BAFBD-272A-4930-DC2D-7697C068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901" y="4360601"/>
            <a:ext cx="2471439" cy="2497399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5D7BD06-718C-927A-8481-F2B463650092}"/>
              </a:ext>
            </a:extLst>
          </p:cNvPr>
          <p:cNvSpPr/>
          <p:nvPr/>
        </p:nvSpPr>
        <p:spPr>
          <a:xfrm>
            <a:off x="922236" y="3002856"/>
            <a:ext cx="7505442" cy="406151"/>
          </a:xfrm>
          <a:prstGeom prst="wedgeRectCallout">
            <a:avLst>
              <a:gd name="adj1" fmla="val 13195"/>
              <a:gd name="adj2" fmla="val -100521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/>
              <a:t>Opus4.5 GPT5.4</a:t>
            </a:r>
            <a:r>
              <a:rPr lang="ja-JP" altLang="en-US" dirty="0"/>
              <a:t>以降は、</a:t>
            </a:r>
            <a:r>
              <a:rPr lang="ja-JP" altLang="en-US" b="1" dirty="0"/>
              <a:t>適切なコンテキストがあれば</a:t>
            </a:r>
            <a:r>
              <a:rPr lang="en-US" altLang="ja-JP" dirty="0"/>
              <a:t>AI</a:t>
            </a:r>
            <a:r>
              <a:rPr lang="ja-JP" altLang="en-US" dirty="0"/>
              <a:t>の方が優秀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367FB952-2915-A9EE-9EB5-9DEC421F01E4}"/>
              </a:ext>
            </a:extLst>
          </p:cNvPr>
          <p:cNvSpPr/>
          <p:nvPr/>
        </p:nvSpPr>
        <p:spPr>
          <a:xfrm>
            <a:off x="2667038" y="5702414"/>
            <a:ext cx="4608512" cy="483814"/>
          </a:xfrm>
          <a:prstGeom prst="wedgeRectCallout">
            <a:avLst>
              <a:gd name="adj1" fmla="val 14989"/>
              <a:gd name="adj2" fmla="val -112095"/>
            </a:avLst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コンテキストがある＝</a:t>
            </a:r>
            <a:r>
              <a:rPr lang="ja-JP" altLang="en-US" b="1" dirty="0"/>
              <a:t>言語化済み</a:t>
            </a:r>
            <a:endParaRPr lang="en-US" altLang="ja-JP" b="1" dirty="0"/>
          </a:p>
        </p:txBody>
      </p:sp>
    </p:spTree>
    <p:extLst>
      <p:ext uri="{BB962C8B-B14F-4D97-AF65-F5344CB8AC3E}">
        <p14:creationId xmlns:p14="http://schemas.microsoft.com/office/powerpoint/2010/main" val="100649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4" grpId="0" animBg="1"/>
      <p:bldP spid="1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問いを立てることも</a:t>
            </a:r>
            <a:r>
              <a:rPr kumimoji="1" lang="ja-JP" altLang="en-US" sz="1500" b="1" dirty="0"/>
              <a:t>判断の一部</a:t>
            </a:r>
            <a:r>
              <a:rPr kumimoji="1" lang="ja-JP" altLang="en-US" sz="1500" dirty="0"/>
              <a:t>である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責任：</a:t>
            </a:r>
            <a:r>
              <a:rPr kumimoji="1" lang="ja-JP" altLang="en-US" sz="1500" b="1" dirty="0"/>
              <a:t>違和感を言語化</a:t>
            </a:r>
            <a:r>
              <a:rPr kumimoji="1" lang="ja-JP" altLang="en-US" sz="1500" dirty="0"/>
              <a:t>し、満足できる条件を策定し、受け入れるトレードオフを決める</a:t>
            </a:r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r>
              <a:rPr lang="ja-JP" altLang="en-US" sz="1500" b="1" dirty="0"/>
              <a:t>レビューの役割</a:t>
            </a:r>
          </a:p>
          <a:p>
            <a:pPr lvl="1"/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結局、人間が強くなるしかない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 育成を含めるべき</a:t>
            </a:r>
            <a:endParaRPr kumimoji="1" lang="en-US" altLang="ja-JP" sz="1500" dirty="0"/>
          </a:p>
          <a:p>
            <a:pPr lvl="1"/>
            <a:r>
              <a:rPr lang="en-US" altLang="ja-JP" sz="1500" dirty="0"/>
              <a:t>A</a:t>
            </a:r>
            <a:r>
              <a:rPr lang="ja-JP" altLang="en-US" sz="1500" dirty="0"/>
              <a:t>Ｉにたくさん質問させて、知らなかった知識を日々学んでいく</a:t>
            </a:r>
            <a:endParaRPr kumimoji="1" lang="ja-JP" altLang="en-US" sz="15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6429164" y="1340768"/>
            <a:ext cx="2540732" cy="28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</p:spTree>
    <p:extLst>
      <p:ext uri="{BB962C8B-B14F-4D97-AF65-F5344CB8AC3E}">
        <p14:creationId xmlns:p14="http://schemas.microsoft.com/office/powerpoint/2010/main" val="3989734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kumimoji="1" lang="ja-JP" altLang="en-US" sz="1800" dirty="0"/>
              <a:t>Git 上の Markdown（193ファイル）↔ 社内 Wiki（GROWI）の同期システム</a:t>
            </a:r>
          </a:p>
          <a:p>
            <a:pPr lvl="1"/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作り方を作る</a:t>
            </a:r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kumimoji="1" lang="ja-JP" altLang="en-US" sz="1800" dirty="0"/>
              <a:t>Claude Code スキル/エージェント </a:t>
            </a:r>
            <a:r>
              <a:rPr lang="ja-JP" altLang="en-US" sz="1800" dirty="0"/>
              <a:t>↔</a:t>
            </a:r>
            <a:r>
              <a:rPr kumimoji="1" lang="ja-JP" altLang="en-US" sz="18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1"/>
            <a:r>
              <a:rPr kumimoji="1" lang="ja-JP" altLang="en-US" sz="1600" dirty="0"/>
              <a:t>育て方を作る</a:t>
            </a:r>
            <a:endParaRPr kumimoji="1" lang="en-US" altLang="ja-JP" sz="1600" dirty="0"/>
          </a:p>
          <a:p>
            <a:pPr lvl="1"/>
            <a:endParaRPr lang="ja-JP" altLang="en-US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が判断の枠組みを作り、AI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今日話した2つの仕組み</a:t>
            </a:r>
          </a:p>
        </p:txBody>
      </p:sp>
    </p:spTree>
    <p:extLst>
      <p:ext uri="{BB962C8B-B14F-4D97-AF65-F5344CB8AC3E}">
        <p14:creationId xmlns:p14="http://schemas.microsoft.com/office/powerpoint/2010/main" val="1825818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著者</a:t>
            </a:r>
          </a:p>
          <a:p>
            <a:pPr lvl="1"/>
            <a:r>
              <a:rPr kumimoji="1" lang="ja-JP" altLang="en-US" sz="1500" dirty="0"/>
              <a:t>/self-review → 網羅的チェック（Reckoning）</a:t>
            </a:r>
          </a:p>
          <a:p>
            <a:pPr lvl="1"/>
            <a:r>
              <a:rPr kumimoji="1" lang="ja-JP" altLang="en-US" sz="1500" dirty="0"/>
              <a:t>意思決定フェーズ → 各 finding に判断（Judgment）</a:t>
            </a:r>
          </a:p>
          <a:p>
            <a:pPr lvl="1"/>
            <a:r>
              <a:rPr kumimoji="1" lang="ja-JP" altLang="en-US" sz="1500" dirty="0"/>
              <a:t>/draft-pr → 意思決定記録と設計意図を PR に埋め込む</a:t>
            </a:r>
            <a:endParaRPr lang="ja-JP" altLang="en-US" dirty="0"/>
          </a:p>
          <a:p>
            <a:r>
              <a:rPr kumimoji="1" lang="ja-JP" altLang="en-US" sz="1500" b="1" dirty="0"/>
              <a:t>レビュワー</a:t>
            </a:r>
          </a:p>
          <a:p>
            <a:pPr lvl="1"/>
            <a:r>
              <a:rPr kumimoji="1" lang="ja-JP" altLang="en-US" sz="1500" dirty="0"/>
              <a:t>/peer-review → 検討済み事項をスキップ</a:t>
            </a:r>
          </a:p>
          <a:p>
            <a:pPr lvl="1"/>
            <a:r>
              <a:rPr kumimoji="1" lang="ja-JP" altLang="en-US" sz="1500" dirty="0"/>
              <a:t>コメント選択 → 「その判断は妥当か」を問う（Judgment）</a:t>
            </a:r>
          </a:p>
          <a:p>
            <a:pPr lvl="1"/>
            <a:r>
              <a:rPr kumimoji="1" lang="ja-JP" altLang="en-US" sz="1500" dirty="0"/>
              <a:t>/post-review → Pending レビューを投稿</a:t>
            </a:r>
          </a:p>
          <a:p>
            <a:r>
              <a:rPr lang="ja-JP" altLang="en-US" sz="1500" b="1" dirty="0"/>
              <a:t>チームで</a:t>
            </a:r>
          </a:p>
          <a:p>
            <a:pPr lvl="1"/>
            <a:r>
              <a:rPr lang="en-US" altLang="ja-JP" sz="1500" dirty="0"/>
              <a:t>Claude.md</a:t>
            </a:r>
            <a:r>
              <a:rPr lang="ja-JP" altLang="en-US" sz="1500" dirty="0"/>
              <a:t>や各</a:t>
            </a:r>
            <a:r>
              <a:rPr lang="en-US" altLang="ja-JP" sz="1500" dirty="0"/>
              <a:t>Agent.md</a:t>
            </a:r>
            <a:r>
              <a:rPr lang="ja-JP" altLang="en-US" sz="1500" dirty="0"/>
              <a:t>に判断・観点を追加していく（Judgment）</a:t>
            </a:r>
            <a:endParaRPr lang="en-US" altLang="ja-JP" sz="1500" dirty="0"/>
          </a:p>
          <a:p>
            <a:pPr lvl="1"/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判断を通すワークフロー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632681" y="1304764"/>
            <a:ext cx="8640638" cy="4894536"/>
          </a:xfrm>
        </p:spPr>
        <p:txBody>
          <a:bodyPr>
            <a:normAutofit/>
          </a:bodyPr>
          <a:lstStyle/>
          <a:p>
            <a:r>
              <a:rPr kumimoji="1" lang="ja-JP" altLang="en-US" sz="1800" b="1" dirty="0"/>
              <a:t>ドキュメントパイプライン</a:t>
            </a:r>
          </a:p>
          <a:p>
            <a:pPr lvl="1"/>
            <a:r>
              <a:rPr kumimoji="1" lang="ja-JP" altLang="en-US" sz="1800" dirty="0"/>
              <a:t>Judgment: 何を自動化し・何を</a:t>
            </a:r>
            <a:r>
              <a:rPr lang="ja-JP" altLang="en-US" sz="1800" dirty="0"/>
              <a:t>メンバー（人間）に何</a:t>
            </a:r>
            <a:r>
              <a:rPr kumimoji="1" lang="ja-JP" altLang="en-US" sz="1800" dirty="0"/>
              <a:t>をやってもらうか</a:t>
            </a:r>
            <a:br>
              <a:rPr kumimoji="1" lang="en-US" altLang="ja-JP" sz="1800" dirty="0"/>
            </a:br>
            <a:r>
              <a:rPr kumimoji="1" lang="ja-JP" altLang="en-US" sz="1800" dirty="0"/>
              <a:t>Reckoning: ツール構築・ツール実行</a:t>
            </a:r>
            <a:endParaRPr lang="ja-JP" altLang="en-US" sz="1400" dirty="0"/>
          </a:p>
          <a:p>
            <a:r>
              <a:rPr kumimoji="1" lang="ja-JP" altLang="en-US" sz="1800" b="1" dirty="0"/>
              <a:t>レビューワークフロー</a:t>
            </a:r>
          </a:p>
          <a:p>
            <a:pPr lvl="1"/>
            <a:r>
              <a:rPr kumimoji="1" lang="ja-JP" altLang="en-US" sz="1800" dirty="0"/>
              <a:t>Judgment: この変更を組み込むべきか、どの判断を採るか、何を観点とするか</a:t>
            </a:r>
          </a:p>
          <a:p>
            <a:pPr lvl="1"/>
            <a:r>
              <a:rPr kumimoji="1" lang="ja-JP" altLang="en-US" sz="1800" dirty="0"/>
              <a:t>Reckoning: 網羅分析、要約、観点別チェック</a:t>
            </a:r>
          </a:p>
          <a:p>
            <a:endParaRPr lang="ja-JP" altLang="en-US" dirty="0"/>
          </a:p>
          <a:p>
            <a:pPr algn="ctr"/>
            <a:r>
              <a:rPr kumimoji="1" lang="ja-JP" altLang="en-US" sz="1800" b="1" dirty="0"/>
              <a:t>共通</a:t>
            </a:r>
          </a:p>
          <a:p>
            <a:pPr marL="257173" lvl="1" indent="0" algn="ctr">
              <a:buNone/>
            </a:pPr>
            <a:r>
              <a:rPr kumimoji="1" lang="ja-JP" altLang="en-US" sz="1800" dirty="0"/>
              <a:t>人間が枠組みと採否を決め、AI がその範囲で実行する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2つの事例が示すパターン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59926-2416-36CA-D42E-AD992753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409AD931-9E05-3ACB-7061-FAA1E558DB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selfhost ランナー</a:t>
            </a:r>
          </a:p>
          <a:p>
            <a:pPr lvl="1"/>
            <a:r>
              <a:rPr kumimoji="1" lang="ja-JP" altLang="en-US" sz="1800" dirty="0"/>
              <a:t>Git 画像でリポジトリが重い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Azure Blob ストレージに保存してリンクを張る</a:t>
            </a:r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r>
              <a:rPr lang="ja-JP" altLang="en-US" sz="1800" dirty="0"/>
              <a:t>🧑‍💻</a:t>
            </a:r>
            <a:r>
              <a:rPr kumimoji="1" lang="ja-JP" altLang="en-US" sz="1800" dirty="0"/>
              <a:t>判断 → CLI スクリプト + ショートカットで実行</a:t>
            </a:r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 </a:t>
            </a:r>
            <a:br>
              <a:rPr lang="en-US" altLang="ja-JP" sz="1800" dirty="0"/>
            </a:br>
            <a:r>
              <a:rPr lang="ja-JP" altLang="en-US" sz="1800" dirty="0"/>
              <a:t>🧑‍💻判断 → </a:t>
            </a:r>
            <a:r>
              <a:rPr lang="en-US" altLang="ja-JP" sz="1800" dirty="0" err="1"/>
              <a:t>Growi</a:t>
            </a:r>
            <a:r>
              <a:rPr lang="ja-JP" altLang="en-US" sz="1800" dirty="0"/>
              <a:t>からリポジトリへのの取り込み機能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r>
              <a:rPr lang="ja-JP" altLang="en-US" sz="1800" dirty="0"/>
              <a:t>決めてしまえば、</a:t>
            </a:r>
            <a:r>
              <a:rPr lang="en-US" altLang="ja-JP" sz="1800" dirty="0"/>
              <a:t>AI</a:t>
            </a:r>
            <a:r>
              <a:rPr lang="ja-JP" altLang="en-US" sz="1800" dirty="0"/>
              <a:t>🤖がサクッと実装してくれる</a:t>
            </a:r>
            <a:r>
              <a:rPr lang="en-US" altLang="ja-JP" sz="1800" dirty="0"/>
              <a:t>(</a:t>
            </a:r>
            <a:r>
              <a:rPr lang="ja-JP" altLang="en-US" sz="1800" dirty="0"/>
              <a:t>演算）</a:t>
            </a:r>
            <a:br>
              <a:rPr lang="en-US" altLang="ja-JP" sz="1600" dirty="0"/>
            </a:b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C556F17-869E-20ED-D876-B8047E071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3124285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57738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</a:t>
            </a:r>
            <a:r>
              <a:rPr kumimoji="1" lang="ja-JP" altLang="en-US" sz="1600" b="1" dirty="0"/>
              <a:t>問う</a:t>
            </a:r>
            <a:r>
              <a:rPr kumimoji="1" lang="ja-JP" altLang="en-US" sz="1600" dirty="0"/>
              <a:t>か・何を</a:t>
            </a:r>
            <a:r>
              <a:rPr kumimoji="1" lang="ja-JP" altLang="en-US" sz="1600" b="1" dirty="0"/>
              <a:t>採る</a:t>
            </a:r>
            <a:r>
              <a:rPr kumimoji="1" lang="ja-JP" altLang="en-US" sz="1600" dirty="0"/>
              <a:t>かを引き受けること</a:t>
            </a:r>
            <a:endParaRPr kumimoji="1" lang="en-US" altLang="ja-JP" sz="16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92" y="980728"/>
            <a:ext cx="2324708" cy="290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/>
          </a:bodyPr>
          <a:lstStyle/>
          <a:p>
            <a:r>
              <a:rPr kumimoji="1" lang="ja-JP" altLang="en-US" sz="2400" b="1" dirty="0"/>
              <a:t>「何を問うか」を引き受けるのは人間</a:t>
            </a:r>
          </a:p>
          <a:p>
            <a:pPr lvl="1"/>
            <a:r>
              <a:rPr kumimoji="1" lang="ja-JP" altLang="en-US" sz="2400" dirty="0"/>
              <a:t>問いを立てることも</a:t>
            </a:r>
            <a:r>
              <a:rPr kumimoji="1" lang="en-US" altLang="ja-JP" sz="2400" b="1" dirty="0"/>
              <a:t>Judgement</a:t>
            </a:r>
            <a:r>
              <a:rPr kumimoji="1" lang="ja-JP" altLang="en-US" sz="2400" dirty="0"/>
              <a:t>である</a:t>
            </a:r>
            <a:endParaRPr kumimoji="1" lang="en-US" altLang="ja-JP" sz="2400" dirty="0"/>
          </a:p>
          <a:p>
            <a:pPr lvl="1"/>
            <a:r>
              <a:rPr lang="ja-JP" altLang="en-US" sz="2400" b="1" dirty="0"/>
              <a:t>判断</a:t>
            </a:r>
            <a:r>
              <a:rPr lang="ja-JP" altLang="en-US" sz="2400" dirty="0"/>
              <a:t>：掛け金を持つ主体として世界にコミットする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  <a:p>
            <a:pPr lvl="2"/>
            <a:endParaRPr kumimoji="1" lang="ja-JP" altLang="en-US" sz="2400" b="1" dirty="0"/>
          </a:p>
          <a:p>
            <a:pPr lvl="1"/>
            <a:r>
              <a:rPr kumimoji="1" lang="ja-JP" altLang="en-US" sz="2400" b="1" dirty="0"/>
              <a:t>責任無いコードはメンタルモデルが喪失している</a:t>
            </a:r>
            <a:endParaRPr kumimoji="1" lang="ja-JP" altLang="en-US"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2349</TotalTime>
  <Words>2002</Words>
  <Application>Microsoft Office PowerPoint</Application>
  <PresentationFormat>A4 210 x 297 mm</PresentationFormat>
  <Paragraphs>226</Paragraphs>
  <Slides>32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32</vt:i4>
      </vt:variant>
    </vt:vector>
  </HeadingPairs>
  <TitlesOfParts>
    <vt:vector size="35" baseType="lpstr">
      <vt:lpstr>游ゴシック</vt:lpstr>
      <vt:lpstr>Arial</vt:lpstr>
      <vt:lpstr>1_Office テーマ</vt:lpstr>
      <vt:lpstr>判断と演算のループを設計する — AIエージェント活用の2つの事例 —</vt:lpstr>
      <vt:lpstr>PowerPoint プレゼンテーション</vt:lpstr>
      <vt:lpstr>事例1 ドキュメントパイプライン</vt:lpstr>
      <vt:lpstr>何をしたかったか？</vt:lpstr>
      <vt:lpstr>何を作った？　</vt:lpstr>
      <vt:lpstr>何を作った？　</vt:lpstr>
      <vt:lpstr>制約：何を気にする必要があったか</vt:lpstr>
      <vt:lpstr>作り方を作る　エンジニアリング エンジニアリング</vt:lpstr>
      <vt:lpstr>事例2　AIレビューワークフロー</vt:lpstr>
      <vt:lpstr>実践例</vt:lpstr>
      <vt:lpstr>実践例：レビュー</vt:lpstr>
      <vt:lpstr>実践例</vt:lpstr>
      <vt:lpstr>実践例</vt:lpstr>
      <vt:lpstr>実践例</vt:lpstr>
      <vt:lpstr>実践例</vt:lpstr>
      <vt:lpstr>実践例</vt:lpstr>
      <vt:lpstr>実践例</vt:lpstr>
      <vt:lpstr>ワークフローの概要</vt:lpstr>
      <vt:lpstr>コードレビューとはなにか</vt:lpstr>
      <vt:lpstr>この仕組みの効果</vt:lpstr>
      <vt:lpstr>結び: 人間が引き受けるべきこと</vt:lpstr>
      <vt:lpstr>判断（Judgment）と 演算（Reckoning）</vt:lpstr>
      <vt:lpstr>Brian Cantwell Smith って何者？</vt:lpstr>
      <vt:lpstr>枠組み: 判断（Judgment）と演算（Reckoning）</vt:lpstr>
      <vt:lpstr>今日話した2つの仕組み</vt:lpstr>
      <vt:lpstr>演算（Reckoning）— 判断を通すワークフロー</vt:lpstr>
      <vt:lpstr>2つの事例が示すパターン</vt:lpstr>
      <vt:lpstr>制約：何を気にする必要があったか</vt:lpstr>
      <vt:lpstr>PowerPoint プレゼンテーション</vt:lpstr>
      <vt:lpstr>枠組み: 判断（Judgment）と演算（Reckoning）</vt:lpstr>
      <vt:lpstr>結び: 人間が引き受けるべきこと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1042</cp:revision>
  <cp:lastPrinted>2021-05-06T02:35:10Z</cp:lastPrinted>
  <dcterms:created xsi:type="dcterms:W3CDTF">2020-11-02T06:12:12Z</dcterms:created>
  <dcterms:modified xsi:type="dcterms:W3CDTF">2026-04-04T16:22:51Z</dcterms:modified>
</cp:coreProperties>
</file>