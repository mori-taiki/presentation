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18" r:id="rId2"/>
    <p:sldId id="281" r:id="rId3"/>
    <p:sldId id="338" r:id="rId4"/>
    <p:sldId id="321" r:id="rId5"/>
    <p:sldId id="364" r:id="rId6"/>
    <p:sldId id="356" r:id="rId7"/>
    <p:sldId id="355" r:id="rId8"/>
    <p:sldId id="340" r:id="rId9"/>
    <p:sldId id="323" r:id="rId10"/>
    <p:sldId id="326" r:id="rId11"/>
    <p:sldId id="327" r:id="rId12"/>
    <p:sldId id="360" r:id="rId13"/>
    <p:sldId id="363" r:id="rId14"/>
    <p:sldId id="373" r:id="rId15"/>
    <p:sldId id="330" r:id="rId16"/>
    <p:sldId id="366" r:id="rId17"/>
    <p:sldId id="368" r:id="rId18"/>
    <p:sldId id="367" r:id="rId19"/>
    <p:sldId id="369" r:id="rId20"/>
    <p:sldId id="370" r:id="rId21"/>
    <p:sldId id="371" r:id="rId22"/>
    <p:sldId id="372" r:id="rId23"/>
    <p:sldId id="348" r:id="rId24"/>
    <p:sldId id="346" r:id="rId25"/>
    <p:sldId id="344" r:id="rId26"/>
    <p:sldId id="359" r:id="rId27"/>
    <p:sldId id="349" r:id="rId28"/>
    <p:sldId id="350" r:id="rId29"/>
    <p:sldId id="332" r:id="rId30"/>
    <p:sldId id="343" r:id="rId31"/>
    <p:sldId id="342" r:id="rId32"/>
    <p:sldId id="337" r:id="rId33"/>
    <p:sldId id="312" r:id="rId34"/>
    <p:sldId id="334" r:id="rId35"/>
    <p:sldId id="339" r:id="rId36"/>
    <p:sldId id="319" r:id="rId37"/>
    <p:sldId id="341" r:id="rId38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5796" userDrawn="1">
          <p15:clr>
            <a:srgbClr val="F26B43"/>
          </p15:clr>
        </p15:guide>
        <p15:guide id="4" pos="444" userDrawn="1">
          <p15:clr>
            <a:srgbClr val="F26B43"/>
          </p15:clr>
        </p15:guide>
        <p15:guide id="5" orient="horz" pos="595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  <p15:guide id="9" pos="3324" userDrawn="1">
          <p15:clr>
            <a:srgbClr val="F26B43"/>
          </p15:clr>
        </p15:guide>
        <p15:guide id="10" pos="2145" userDrawn="1">
          <p15:clr>
            <a:srgbClr val="F26B43"/>
          </p15:clr>
        </p15:guide>
        <p15:guide id="11" pos="4095" userDrawn="1">
          <p15:clr>
            <a:srgbClr val="F26B43"/>
          </p15:clr>
        </p15:guide>
        <p15:guide id="12" pos="2916" userDrawn="1">
          <p15:clr>
            <a:srgbClr val="F26B43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松本　紗規子" initials="松本　紗規子" lastIdx="1" clrIdx="0">
    <p:extLst>
      <p:ext uri="{19B8F6BF-5375-455C-9EA6-DF929625EA0E}">
        <p15:presenceInfo xmlns:p15="http://schemas.microsoft.com/office/powerpoint/2012/main" userId="S::sa-matsumoto@kentem.onmicrosoft.com::5d7b7419-a4d7-4205-81a0-ec99ac06290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D000"/>
    <a:srgbClr val="D9D9D9"/>
    <a:srgbClr val="F3271A"/>
    <a:srgbClr val="E6E6E6"/>
    <a:srgbClr val="000000"/>
    <a:srgbClr val="B3B3B3"/>
    <a:srgbClr val="40A6E6"/>
    <a:srgbClr val="FFFFFF"/>
    <a:srgbClr val="F2F2F2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F546CC-C669-462A-B718-C31FD42A0005}" v="36" dt="2021-03-23T01:26:4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37" autoAdjust="0"/>
    <p:restoredTop sz="95214" autoAdjust="0"/>
  </p:normalViewPr>
  <p:slideViewPr>
    <p:cSldViewPr>
      <p:cViewPr varScale="1">
        <p:scale>
          <a:sx n="105" d="100"/>
          <a:sy n="105" d="100"/>
        </p:scale>
        <p:origin x="1704" y="108"/>
      </p:cViewPr>
      <p:guideLst>
        <p:guide orient="horz" pos="2160"/>
        <p:guide pos="3120"/>
        <p:guide pos="5796"/>
        <p:guide pos="444"/>
        <p:guide orient="horz" pos="595"/>
        <p:guide orient="horz" pos="4042"/>
        <p:guide pos="3324"/>
        <p:guide pos="2145"/>
        <p:guide pos="4095"/>
        <p:guide pos="291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78" d="100"/>
          <a:sy n="78" d="100"/>
        </p:scale>
        <p:origin x="3996" y="96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市川　卓" userId="918186a9-4936-4767-923a-3be65c1d7e18" providerId="ADAL" clId="{8CF546CC-C669-462A-B718-C31FD42A0005}"/>
    <pc:docChg chg="custSel addSld delSld modSld modMainMaster">
      <pc:chgData name="市川　卓" userId="918186a9-4936-4767-923a-3be65c1d7e18" providerId="ADAL" clId="{8CF546CC-C669-462A-B718-C31FD42A0005}" dt="2021-03-23T01:26:47.940" v="196"/>
      <pc:docMkLst>
        <pc:docMk/>
      </pc:docMkLst>
      <pc:sldChg chg="modSp mod">
        <pc:chgData name="市川　卓" userId="918186a9-4936-4767-923a-3be65c1d7e18" providerId="ADAL" clId="{8CF546CC-C669-462A-B718-C31FD42A0005}" dt="2021-03-23T01:26:38.484" v="191"/>
        <pc:sldMkLst>
          <pc:docMk/>
          <pc:sldMk cId="4280470710" sldId="294"/>
        </pc:sldMkLst>
        <pc:spChg chg="mod">
          <ac:chgData name="市川　卓" userId="918186a9-4936-4767-923a-3be65c1d7e18" providerId="ADAL" clId="{8CF546CC-C669-462A-B718-C31FD42A0005}" dt="2021-03-23T01:26:38.484" v="191"/>
          <ac:spMkLst>
            <pc:docMk/>
            <pc:sldMk cId="4280470710" sldId="294"/>
            <ac:spMk id="4" creationId="{A4F7849A-3771-4FDF-9E02-25A60A16513B}"/>
          </ac:spMkLst>
        </pc:spChg>
      </pc:sldChg>
      <pc:sldChg chg="modSp mod">
        <pc:chgData name="市川　卓" userId="918186a9-4936-4767-923a-3be65c1d7e18" providerId="ADAL" clId="{8CF546CC-C669-462A-B718-C31FD42A0005}" dt="2021-03-23T01:26:47.940" v="196"/>
        <pc:sldMkLst>
          <pc:docMk/>
          <pc:sldMk cId="3168707527" sldId="295"/>
        </pc:sldMkLst>
        <pc:spChg chg="mod">
          <ac:chgData name="市川　卓" userId="918186a9-4936-4767-923a-3be65c1d7e18" providerId="ADAL" clId="{8CF546CC-C669-462A-B718-C31FD42A0005}" dt="2021-03-23T01:26:47.940" v="196"/>
          <ac:spMkLst>
            <pc:docMk/>
            <pc:sldMk cId="3168707527" sldId="295"/>
            <ac:spMk id="4" creationId="{A4F7849A-3771-4FDF-9E02-25A60A16513B}"/>
          </ac:spMkLst>
        </pc:spChg>
      </pc:sldChg>
      <pc:sldChg chg="addSp delSp modSp new mod modClrScheme chgLayout">
        <pc:chgData name="市川　卓" userId="918186a9-4936-4767-923a-3be65c1d7e18" providerId="ADAL" clId="{8CF546CC-C669-462A-B718-C31FD42A0005}" dt="2021-03-23T01:22:39.553" v="176" actId="700"/>
        <pc:sldMkLst>
          <pc:docMk/>
          <pc:sldMk cId="1198207210" sldId="319"/>
        </pc:sldMkLst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2" creationId="{55B5715D-BAA3-4E2D-A8E7-3046102EEA35}"/>
          </ac:spMkLst>
        </pc:spChg>
        <pc:spChg chg="del">
          <ac:chgData name="市川　卓" userId="918186a9-4936-4767-923a-3be65c1d7e18" providerId="ADAL" clId="{8CF546CC-C669-462A-B718-C31FD42A0005}" dt="2021-03-23T01:20:25.120" v="163" actId="700"/>
          <ac:spMkLst>
            <pc:docMk/>
            <pc:sldMk cId="1198207210" sldId="319"/>
            <ac:spMk id="3" creationId="{6C41FF48-7C47-4D6C-BB87-9B9C37929DF2}"/>
          </ac:spMkLst>
        </pc:spChg>
        <pc:spChg chg="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4" creationId="{E545518E-D921-493E-90BD-19C3B09F2C6A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5" creationId="{0BD127DE-FD8A-4A45-B3ED-DBA92371FCC3}"/>
          </ac:spMkLst>
        </pc:spChg>
        <pc:spChg chg="add del mod ord">
          <ac:chgData name="市川　卓" userId="918186a9-4936-4767-923a-3be65c1d7e18" providerId="ADAL" clId="{8CF546CC-C669-462A-B718-C31FD42A0005}" dt="2021-03-23T01:20:30.693" v="164" actId="700"/>
          <ac:spMkLst>
            <pc:docMk/>
            <pc:sldMk cId="1198207210" sldId="319"/>
            <ac:spMk id="6" creationId="{0A1DF75C-3D7F-4FCF-901D-B191D4AFE530}"/>
          </ac:spMkLst>
        </pc:spChg>
        <pc:spChg chg="add del mod ord">
          <ac:chgData name="市川　卓" userId="918186a9-4936-4767-923a-3be65c1d7e18" providerId="ADAL" clId="{8CF546CC-C669-462A-B718-C31FD42A0005}" dt="2021-03-23T01:20:36.105" v="165" actId="700"/>
          <ac:spMkLst>
            <pc:docMk/>
            <pc:sldMk cId="1198207210" sldId="319"/>
            <ac:spMk id="7" creationId="{93593507-3EA2-4520-8CAD-78EB4A286CAE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8" creationId="{16F07EB1-9494-4BAE-9749-F29D0DB67E1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9" creationId="{8742670A-32CE-439D-9F61-AE6A61E2C629}"/>
          </ac:spMkLst>
        </pc:spChg>
        <pc:spChg chg="add del mod ord">
          <ac:chgData name="市川　卓" userId="918186a9-4936-4767-923a-3be65c1d7e18" providerId="ADAL" clId="{8CF546CC-C669-462A-B718-C31FD42A0005}" dt="2021-03-23T01:20:41.394" v="166" actId="700"/>
          <ac:spMkLst>
            <pc:docMk/>
            <pc:sldMk cId="1198207210" sldId="319"/>
            <ac:spMk id="10" creationId="{89256765-6CF2-4592-9EE0-CC61F1B43828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1" creationId="{A96FFE36-FCFA-4BF5-B517-231A1C03E2D9}"/>
          </ac:spMkLst>
        </pc:spChg>
        <pc:spChg chg="add del mod ord">
          <ac:chgData name="市川　卓" userId="918186a9-4936-4767-923a-3be65c1d7e18" providerId="ADAL" clId="{8CF546CC-C669-462A-B718-C31FD42A0005}" dt="2021-03-23T01:20:46.865" v="167" actId="700"/>
          <ac:spMkLst>
            <pc:docMk/>
            <pc:sldMk cId="1198207210" sldId="319"/>
            <ac:spMk id="12" creationId="{7EF4F0B7-BF25-4BF0-B7E7-18E08DF5DB9F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3" creationId="{B168DD99-CE2D-48F5-8E88-0DBF1C491149}"/>
          </ac:spMkLst>
        </pc:spChg>
        <pc:spChg chg="add del mod ord">
          <ac:chgData name="市川　卓" userId="918186a9-4936-4767-923a-3be65c1d7e18" providerId="ADAL" clId="{8CF546CC-C669-462A-B718-C31FD42A0005}" dt="2021-03-23T01:20:56.075" v="168" actId="700"/>
          <ac:spMkLst>
            <pc:docMk/>
            <pc:sldMk cId="1198207210" sldId="319"/>
            <ac:spMk id="14" creationId="{E9F50716-3DB4-42B5-BFC9-D2FB9DFBEEFD}"/>
          </ac:spMkLst>
        </pc:spChg>
        <pc:spChg chg="add del mod ord">
          <ac:chgData name="市川　卓" userId="918186a9-4936-4767-923a-3be65c1d7e18" providerId="ADAL" clId="{8CF546CC-C669-462A-B718-C31FD42A0005}" dt="2021-03-23T01:21:01.801" v="169" actId="700"/>
          <ac:spMkLst>
            <pc:docMk/>
            <pc:sldMk cId="1198207210" sldId="319"/>
            <ac:spMk id="15" creationId="{19E0D723-587C-4BCD-B584-2009E5CCA06A}"/>
          </ac:spMkLst>
        </pc:spChg>
        <pc:spChg chg="add del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6" creationId="{84E765C6-8942-4B08-B916-D68A6E4C944B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7" creationId="{DD0A3361-802C-40F7-832C-B98FF8928BCC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8" creationId="{F7F0E13D-98E6-41B4-AE2B-CA913B3AEA6E}"/>
          </ac:spMkLst>
        </pc:spChg>
        <pc:spChg chg="add mod ord">
          <ac:chgData name="市川　卓" userId="918186a9-4936-4767-923a-3be65c1d7e18" providerId="ADAL" clId="{8CF546CC-C669-462A-B718-C31FD42A0005}" dt="2021-03-23T01:22:39.553" v="176" actId="700"/>
          <ac:spMkLst>
            <pc:docMk/>
            <pc:sldMk cId="1198207210" sldId="319"/>
            <ac:spMk id="19" creationId="{97BF4AE6-356D-4DE8-A706-1287E3E81A23}"/>
          </ac:spMkLst>
        </pc:spChg>
      </pc:sldChg>
      <pc:sldChg chg="addSp delSp modSp new del mod modClrScheme chgLayout">
        <pc:chgData name="市川　卓" userId="918186a9-4936-4767-923a-3be65c1d7e18" providerId="ADAL" clId="{8CF546CC-C669-462A-B718-C31FD42A0005}" dt="2021-03-23T01:15:02.781" v="21" actId="47"/>
        <pc:sldMkLst>
          <pc:docMk/>
          <pc:sldMk cId="2630060054" sldId="319"/>
        </pc:sldMkLst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2" creationId="{8C7EE990-E0C1-4130-B0F4-4EC78F7BE10D}"/>
          </ac:spMkLst>
        </pc:spChg>
        <pc:spChg chg="del mod ord">
          <ac:chgData name="市川　卓" userId="918186a9-4936-4767-923a-3be65c1d7e18" providerId="ADAL" clId="{8CF546CC-C669-462A-B718-C31FD42A0005}" dt="2021-03-23T01:13:35.480" v="1" actId="700"/>
          <ac:spMkLst>
            <pc:docMk/>
            <pc:sldMk cId="2630060054" sldId="319"/>
            <ac:spMk id="3" creationId="{768BC4A8-C176-4753-B358-7C352AA69CA2}"/>
          </ac:spMkLst>
        </pc:spChg>
        <pc:spChg chg="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4" creationId="{E4DC7FDD-C655-40C7-9098-D905BC15CDF1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5" creationId="{0F500831-4D20-4D06-9980-D95DF883DE5D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6" creationId="{9E6C9889-489D-4658-A144-24E066B1FF36}"/>
          </ac:spMkLst>
        </pc:spChg>
        <pc:spChg chg="add del mod ord">
          <ac:chgData name="市川　卓" userId="918186a9-4936-4767-923a-3be65c1d7e18" providerId="ADAL" clId="{8CF546CC-C669-462A-B718-C31FD42A0005}" dt="2021-03-23T01:13:41.793" v="2" actId="700"/>
          <ac:spMkLst>
            <pc:docMk/>
            <pc:sldMk cId="2630060054" sldId="319"/>
            <ac:spMk id="7" creationId="{B89E9CC6-13C6-4D00-A900-FE96BA38C4C8}"/>
          </ac:spMkLst>
        </pc:spChg>
        <pc:spChg chg="add del mod ord">
          <ac:chgData name="市川　卓" userId="918186a9-4936-4767-923a-3be65c1d7e18" providerId="ADAL" clId="{8CF546CC-C669-462A-B718-C31FD42A0005}" dt="2021-03-23T01:13:46.058" v="3" actId="700"/>
          <ac:spMkLst>
            <pc:docMk/>
            <pc:sldMk cId="2630060054" sldId="319"/>
            <ac:spMk id="8" creationId="{D7689733-F8E0-47C3-8841-910685B0B120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9" creationId="{EFB86DB5-692E-4088-A70B-78947F75F8B9}"/>
          </ac:spMkLst>
        </pc:spChg>
        <pc:spChg chg="add del mod ord">
          <ac:chgData name="市川　卓" userId="918186a9-4936-4767-923a-3be65c1d7e18" providerId="ADAL" clId="{8CF546CC-C669-462A-B718-C31FD42A0005}" dt="2021-03-23T01:13:51.395" v="4" actId="700"/>
          <ac:spMkLst>
            <pc:docMk/>
            <pc:sldMk cId="2630060054" sldId="319"/>
            <ac:spMk id="10" creationId="{C4E5299E-B8FA-4543-8140-D751E68E76AA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1" creationId="{3B053275-541F-409A-9B3C-CBD465B91C39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2" creationId="{6EC0638B-6C41-467A-9DF3-1859636A72DC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3" creationId="{DE615F6B-9D86-49F1-AAA4-19E2A716DAE7}"/>
          </ac:spMkLst>
        </pc:spChg>
        <pc:spChg chg="add del mod ord">
          <ac:chgData name="市川　卓" userId="918186a9-4936-4767-923a-3be65c1d7e18" providerId="ADAL" clId="{8CF546CC-C669-462A-B718-C31FD42A0005}" dt="2021-03-23T01:13:58.895" v="5" actId="700"/>
          <ac:spMkLst>
            <pc:docMk/>
            <pc:sldMk cId="2630060054" sldId="319"/>
            <ac:spMk id="14" creationId="{FF22D9E4-17AD-44B0-9C0C-DB19F353D26E}"/>
          </ac:spMkLst>
        </pc:spChg>
        <pc:spChg chg="add del mod ord">
          <ac:chgData name="市川　卓" userId="918186a9-4936-4767-923a-3be65c1d7e18" providerId="ADAL" clId="{8CF546CC-C669-462A-B718-C31FD42A0005}" dt="2021-03-23T01:14:14.230" v="6" actId="700"/>
          <ac:spMkLst>
            <pc:docMk/>
            <pc:sldMk cId="2630060054" sldId="319"/>
            <ac:spMk id="15" creationId="{8E96B0B7-409D-405C-9F2D-8B5FC6E3D855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6" creationId="{8D028072-CE95-4A5D-9429-3AC42DCB1247}"/>
          </ac:spMkLst>
        </pc:spChg>
        <pc:spChg chg="add del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7" creationId="{F069C250-A8B7-4333-8DF4-5C9438CAABCB}"/>
          </ac:spMkLst>
        </pc:spChg>
        <pc:spChg chg="add mod ord">
          <ac:chgData name="市川　卓" userId="918186a9-4936-4767-923a-3be65c1d7e18" providerId="ADAL" clId="{8CF546CC-C669-462A-B718-C31FD42A0005}" dt="2021-03-23T01:14:48.708" v="20" actId="700"/>
          <ac:spMkLst>
            <pc:docMk/>
            <pc:sldMk cId="2630060054" sldId="319"/>
            <ac:spMk id="18" creationId="{49A237C9-6D1B-473D-A745-98369F890030}"/>
          </ac:spMkLst>
        </pc:spChg>
      </pc:sldChg>
      <pc:sldMasterChg chg="modSldLayout">
        <pc:chgData name="市川　卓" userId="918186a9-4936-4767-923a-3be65c1d7e18" providerId="ADAL" clId="{8CF546CC-C669-462A-B718-C31FD42A0005}" dt="2021-03-23T01:24:05.120" v="187"/>
        <pc:sldMasterMkLst>
          <pc:docMk/>
          <pc:sldMasterMk cId="3406124352" sldId="2147483660"/>
        </pc:sldMasterMkLst>
        <pc:sldLayoutChg chg="modSp mod">
          <pc:chgData name="市川　卓" userId="918186a9-4936-4767-923a-3be65c1d7e18" providerId="ADAL" clId="{8CF546CC-C669-462A-B718-C31FD42A0005}" dt="2021-03-23T01:18:28.385" v="135"/>
          <pc:sldLayoutMkLst>
            <pc:docMk/>
            <pc:sldMasterMk cId="3406124352" sldId="2147483660"/>
            <pc:sldLayoutMk cId="2796180138" sldId="2147483661"/>
          </pc:sldLayoutMkLst>
          <pc:spChg chg="mod">
            <ac:chgData name="市川　卓" userId="918186a9-4936-4767-923a-3be65c1d7e18" providerId="ADAL" clId="{8CF546CC-C669-462A-B718-C31FD42A0005}" dt="2021-03-23T01:18:20.497" v="119"/>
            <ac:spMkLst>
              <pc:docMk/>
              <pc:sldMasterMk cId="3406124352" sldId="2147483660"/>
              <pc:sldLayoutMk cId="2796180138" sldId="2147483661"/>
              <ac:spMk id="12" creationId="{070BFD7A-9E95-4994-AD60-B44C8EE5291E}"/>
            </ac:spMkLst>
          </pc:spChg>
          <pc:spChg chg="mod">
            <ac:chgData name="市川　卓" userId="918186a9-4936-4767-923a-3be65c1d7e18" providerId="ADAL" clId="{8CF546CC-C669-462A-B718-C31FD42A0005}" dt="2021-03-23T01:18:28.385" v="135"/>
            <ac:spMkLst>
              <pc:docMk/>
              <pc:sldMasterMk cId="3406124352" sldId="2147483660"/>
              <pc:sldLayoutMk cId="2796180138" sldId="2147483661"/>
              <ac:spMk id="13" creationId="{170285FF-7FD2-42AA-8794-969E1D26EE90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2:00.708" v="173"/>
          <pc:sldLayoutMkLst>
            <pc:docMk/>
            <pc:sldMasterMk cId="3406124352" sldId="2147483660"/>
            <pc:sldLayoutMk cId="1483238547" sldId="2147483662"/>
          </pc:sldLayoutMkLst>
          <pc:spChg chg="del mod">
            <ac:chgData name="市川　卓" userId="918186a9-4936-4767-923a-3be65c1d7e18" providerId="ADAL" clId="{8CF546CC-C669-462A-B718-C31FD42A0005}" dt="2021-03-23T01:22:00.391" v="172" actId="478"/>
            <ac:spMkLst>
              <pc:docMk/>
              <pc:sldMasterMk cId="3406124352" sldId="2147483660"/>
              <pc:sldLayoutMk cId="1483238547" sldId="2147483662"/>
              <ac:spMk id="5" creationId="{0B4A7AD7-4430-490E-AA10-DA38C920F557}"/>
            </ac:spMkLst>
          </pc:spChg>
          <pc:spChg chg="add mod">
            <ac:chgData name="市川　卓" userId="918186a9-4936-4767-923a-3be65c1d7e18" providerId="ADAL" clId="{8CF546CC-C669-462A-B718-C31FD42A0005}" dt="2021-03-23T01:22:00.708" v="173"/>
            <ac:spMkLst>
              <pc:docMk/>
              <pc:sldMasterMk cId="3406124352" sldId="2147483660"/>
              <pc:sldLayoutMk cId="1483238547" sldId="2147483662"/>
              <ac:spMk id="6" creationId="{FBEA89D0-6CD5-45AF-95C2-21124EFE613B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8:54.621" v="155"/>
          <pc:sldLayoutMkLst>
            <pc:docMk/>
            <pc:sldMasterMk cId="3406124352" sldId="2147483660"/>
            <pc:sldLayoutMk cId="438743432" sldId="2147483666"/>
          </pc:sldLayoutMkLst>
          <pc:spChg chg="mod">
            <ac:chgData name="市川　卓" userId="918186a9-4936-4767-923a-3be65c1d7e18" providerId="ADAL" clId="{8CF546CC-C669-462A-B718-C31FD42A0005}" dt="2021-03-23T01:18:54.621" v="155"/>
            <ac:spMkLst>
              <pc:docMk/>
              <pc:sldMasterMk cId="3406124352" sldId="2147483660"/>
              <pc:sldLayoutMk cId="438743432" sldId="2147483666"/>
              <ac:spMk id="2" creationId="{1A9CE2BC-55D2-4D78-8A0D-3E31D3BE3F42}"/>
            </ac:spMkLst>
          </pc:spChg>
        </pc:sldLayoutChg>
        <pc:sldLayoutChg chg="addSp delSp modSp mod">
          <pc:chgData name="市川　卓" userId="918186a9-4936-4767-923a-3be65c1d7e18" providerId="ADAL" clId="{8CF546CC-C669-462A-B718-C31FD42A0005}" dt="2021-03-23T01:24:05.120" v="187"/>
          <pc:sldLayoutMkLst>
            <pc:docMk/>
            <pc:sldMasterMk cId="3406124352" sldId="2147483660"/>
            <pc:sldLayoutMk cId="2061727303" sldId="2147483669"/>
          </pc:sldLayoutMkLst>
          <pc:spChg chg="add del mod">
            <ac:chgData name="市川　卓" userId="918186a9-4936-4767-923a-3be65c1d7e18" providerId="ADAL" clId="{8CF546CC-C669-462A-B718-C31FD42A0005}" dt="2021-03-23T01:22:17.614" v="174" actId="478"/>
            <ac:spMkLst>
              <pc:docMk/>
              <pc:sldMasterMk cId="3406124352" sldId="2147483660"/>
              <pc:sldLayoutMk cId="2061727303" sldId="2147483669"/>
              <ac:spMk id="8" creationId="{3E1DC98A-6FF7-45E6-B7C6-5145EC45877A}"/>
            </ac:spMkLst>
          </pc:spChg>
          <pc:spChg chg="add del mod">
            <ac:chgData name="市川　卓" userId="918186a9-4936-4767-923a-3be65c1d7e18" providerId="ADAL" clId="{8CF546CC-C669-462A-B718-C31FD42A0005}" dt="2021-03-23T01:23:06.012" v="178" actId="478"/>
            <ac:spMkLst>
              <pc:docMk/>
              <pc:sldMasterMk cId="3406124352" sldId="2147483660"/>
              <pc:sldLayoutMk cId="2061727303" sldId="2147483669"/>
              <ac:spMk id="9" creationId="{533E3C44-9370-4FF3-922C-666864F6F91B}"/>
            </ac:spMkLst>
          </pc:spChg>
          <pc:spChg chg="add del mod">
            <ac:chgData name="市川　卓" userId="918186a9-4936-4767-923a-3be65c1d7e18" providerId="ADAL" clId="{8CF546CC-C669-462A-B718-C31FD42A0005}" dt="2021-03-23T01:23:23.957" v="182" actId="478"/>
            <ac:spMkLst>
              <pc:docMk/>
              <pc:sldMasterMk cId="3406124352" sldId="2147483660"/>
              <pc:sldLayoutMk cId="2061727303" sldId="2147483669"/>
              <ac:spMk id="10" creationId="{16FA130D-30C7-43CC-96E0-8D9427AE81EA}"/>
            </ac:spMkLst>
          </pc:spChg>
          <pc:spChg chg="del mod">
            <ac:chgData name="市川　卓" userId="918186a9-4936-4767-923a-3be65c1d7e18" providerId="ADAL" clId="{8CF546CC-C669-462A-B718-C31FD42A0005}" dt="2021-03-23T01:19:38.195" v="160" actId="478"/>
            <ac:spMkLst>
              <pc:docMk/>
              <pc:sldMasterMk cId="3406124352" sldId="2147483660"/>
              <pc:sldLayoutMk cId="2061727303" sldId="2147483669"/>
              <ac:spMk id="11" creationId="{328798FB-521C-44FC-8D18-B1B7EA1C5F17}"/>
            </ac:spMkLst>
          </pc:spChg>
          <pc:spChg chg="add del mod">
            <ac:chgData name="市川　卓" userId="918186a9-4936-4767-923a-3be65c1d7e18" providerId="ADAL" clId="{8CF546CC-C669-462A-B718-C31FD42A0005}" dt="2021-03-23T01:23:37.532" v="186" actId="478"/>
            <ac:spMkLst>
              <pc:docMk/>
              <pc:sldMasterMk cId="3406124352" sldId="2147483660"/>
              <pc:sldLayoutMk cId="2061727303" sldId="2147483669"/>
              <ac:spMk id="12" creationId="{5AFA8B6D-4DA7-4C12-B11A-E634AC6066C2}"/>
            </ac:spMkLst>
          </pc:spChg>
          <pc:spChg chg="add mod">
            <ac:chgData name="市川　卓" userId="918186a9-4936-4767-923a-3be65c1d7e18" providerId="ADAL" clId="{8CF546CC-C669-462A-B718-C31FD42A0005}" dt="2021-03-23T01:24:05.120" v="187"/>
            <ac:spMkLst>
              <pc:docMk/>
              <pc:sldMasterMk cId="3406124352" sldId="2147483660"/>
              <pc:sldLayoutMk cId="2061727303" sldId="2147483669"/>
              <ac:spMk id="13" creationId="{8B35175E-EC93-4AE8-998E-926A28C915DF}"/>
            </ac:spMkLst>
          </pc:spChg>
        </pc:sldLayoutChg>
        <pc:sldLayoutChg chg="modSp mod">
          <pc:chgData name="市川　卓" userId="918186a9-4936-4767-923a-3be65c1d7e18" providerId="ADAL" clId="{8CF546CC-C669-462A-B718-C31FD42A0005}" dt="2021-03-23T01:15:46.343" v="22" actId="14100"/>
          <pc:sldLayoutMkLst>
            <pc:docMk/>
            <pc:sldMasterMk cId="3406124352" sldId="2147483660"/>
            <pc:sldLayoutMk cId="4293387943" sldId="2147483672"/>
          </pc:sldLayoutMkLst>
          <pc:spChg chg="mod">
            <ac:chgData name="市川　卓" userId="918186a9-4936-4767-923a-3be65c1d7e18" providerId="ADAL" clId="{8CF546CC-C669-462A-B718-C31FD42A0005}" dt="2021-03-23T01:15:46.343" v="22" actId="14100"/>
            <ac:spMkLst>
              <pc:docMk/>
              <pc:sldMasterMk cId="3406124352" sldId="2147483660"/>
              <pc:sldLayoutMk cId="4293387943" sldId="2147483672"/>
              <ac:spMk id="3" creationId="{5F426957-CAD6-40F7-8D0C-0F353F53A097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D6CEFADD-2549-4A37-B220-686DF91B6E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E4538C6-3CC2-4C84-968B-7274B487BD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DADC9-84AC-47A0-A132-06E0329E8A4A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BEC7C25-3D78-430F-B7C7-48C81D0DEC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278F1D2-4AE1-4B1E-9591-226E81A1DCC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7BD8BF-A928-4707-9340-61FE96745E9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5965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AB89-1C3C-45F3-9E77-B76890C91663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63613" y="1233488"/>
            <a:ext cx="4808537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04881A-4257-43F8-A557-80103A5A89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1770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6159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053B2-2112-19FD-7B06-6F5245F0B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816925B-76D2-B957-86A5-FB583A2CA8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BC5DD70-499A-694A-1CBF-D700BB09D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2668B9F-146F-41E3-1499-480D66FAE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32943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00FE0-564C-BE5B-246B-911FE3918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73F0727-324A-8E36-3C42-CD6C2DB92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62DD8C2-A7D0-35D1-F81A-B74312594C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BB93EA3-D896-FDFB-5E5E-E5EC68224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9973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2A02-8BA4-9B03-A581-E8FCBE88F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F59F053-E0BA-D735-253A-6304DCE99B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CCE5C68-4C0B-6062-F039-3C5D689102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499CCC9-D099-8173-1193-BC06189DF2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4009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04881A-4257-43F8-A557-80103A5A893D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44875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表紙">
    <p:bg>
      <p:bgPr>
        <a:solidFill>
          <a:srgbClr val="FDD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68CB0C-8DDF-4B1C-9B5E-948800A3B425}"/>
              </a:ext>
            </a:extLst>
          </p:cNvPr>
          <p:cNvSpPr/>
          <p:nvPr userDrawn="1"/>
        </p:nvSpPr>
        <p:spPr>
          <a:xfrm>
            <a:off x="-2" y="3"/>
            <a:ext cx="990600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solidFill>
                <a:sysClr val="windowText" lastClr="000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A3548E1-C3F3-4D17-A515-2E28DA243018}"/>
              </a:ext>
            </a:extLst>
          </p:cNvPr>
          <p:cNvSpPr/>
          <p:nvPr userDrawn="1"/>
        </p:nvSpPr>
        <p:spPr>
          <a:xfrm>
            <a:off x="5431402" y="104884"/>
            <a:ext cx="4464493" cy="5412348"/>
          </a:xfrm>
          <a:prstGeom prst="roundRect">
            <a:avLst>
              <a:gd name="adj" fmla="val 4205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12" name="タイトル 1">
            <a:extLst>
              <a:ext uri="{FF2B5EF4-FFF2-40B4-BE49-F238E27FC236}">
                <a16:creationId xmlns:a16="http://schemas.microsoft.com/office/drawing/2014/main" id="{070BFD7A-9E95-4994-AD60-B44C8EE529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01173" y="2541823"/>
            <a:ext cx="4532968" cy="913442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lnSpc>
                <a:spcPct val="120000"/>
              </a:lnSpc>
              <a:defRPr sz="2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13" name="字幕 2">
            <a:extLst>
              <a:ext uri="{FF2B5EF4-FFF2-40B4-BE49-F238E27FC236}">
                <a16:creationId xmlns:a16="http://schemas.microsoft.com/office/drawing/2014/main" id="{170285FF-7FD2-42AA-8794-969E1D26EE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01174" y="3573019"/>
            <a:ext cx="4529652" cy="4651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300" b="1">
                <a:solidFill>
                  <a:sysClr val="windowText" lastClr="000000"/>
                </a:solidFill>
                <a:latin typeface="+mn-ea"/>
                <a:ea typeface="+mn-ea"/>
              </a:defRPr>
            </a:lvl1pPr>
            <a:lvl2pPr marL="257173" indent="0" algn="ctr">
              <a:buNone/>
              <a:defRPr sz="1125"/>
            </a:lvl2pPr>
            <a:lvl3pPr marL="514346" indent="0" algn="ctr">
              <a:buNone/>
              <a:defRPr sz="1013"/>
            </a:lvl3pPr>
            <a:lvl4pPr marL="771519" indent="0" algn="ctr">
              <a:buNone/>
              <a:defRPr sz="900"/>
            </a:lvl4pPr>
            <a:lvl5pPr marL="1028691" indent="0" algn="ctr">
              <a:buNone/>
              <a:defRPr sz="900"/>
            </a:lvl5pPr>
            <a:lvl6pPr marL="1285865" indent="0" algn="ctr">
              <a:buNone/>
              <a:defRPr sz="900"/>
            </a:lvl6pPr>
            <a:lvl7pPr marL="1543037" indent="0" algn="ctr">
              <a:buNone/>
              <a:defRPr sz="900"/>
            </a:lvl7pPr>
            <a:lvl8pPr marL="1800210" indent="0" algn="ctr">
              <a:buNone/>
              <a:defRPr sz="900"/>
            </a:lvl8pPr>
            <a:lvl9pPr marL="2057382" indent="0" algn="ctr">
              <a:buNone/>
              <a:defRPr sz="900"/>
            </a:lvl9pPr>
          </a:lstStyle>
          <a:p>
            <a:r>
              <a:rPr kumimoji="1" lang="ja-JP" altLang="en-US" dirty="0"/>
              <a:t>部門名　氏名を入力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9934ED-B545-4D0C-A886-86D98D48FFE0}"/>
              </a:ext>
            </a:extLst>
          </p:cNvPr>
          <p:cNvSpPr/>
          <p:nvPr userDrawn="1"/>
        </p:nvSpPr>
        <p:spPr>
          <a:xfrm>
            <a:off x="3" y="2501486"/>
            <a:ext cx="272479" cy="974234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85EA1C-A992-476A-AF5C-9F36A7B93B98}"/>
              </a:ext>
            </a:extLst>
          </p:cNvPr>
          <p:cNvSpPr/>
          <p:nvPr userDrawn="1"/>
        </p:nvSpPr>
        <p:spPr>
          <a:xfrm rot="5400000">
            <a:off x="6877540" y="2488773"/>
            <a:ext cx="5517230" cy="539691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0F33EB5-1BE3-483B-978C-C674CC55EE89}"/>
              </a:ext>
            </a:extLst>
          </p:cNvPr>
          <p:cNvSpPr/>
          <p:nvPr userDrawn="1"/>
        </p:nvSpPr>
        <p:spPr>
          <a:xfrm>
            <a:off x="20798" y="2501490"/>
            <a:ext cx="524508" cy="974233"/>
          </a:xfrm>
          <a:prstGeom prst="roundRect">
            <a:avLst>
              <a:gd name="adj" fmla="val 20636"/>
            </a:avLst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F79AAF6-DD70-4E1D-B35E-F1D59E2F94F5}"/>
              </a:ext>
            </a:extLst>
          </p:cNvPr>
          <p:cNvSpPr/>
          <p:nvPr userDrawn="1"/>
        </p:nvSpPr>
        <p:spPr>
          <a:xfrm>
            <a:off x="5431403" y="-20452"/>
            <a:ext cx="4476398" cy="664235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pic>
        <p:nvPicPr>
          <p:cNvPr id="4" name="図 3" descr="ロゴ が含まれている画像  自動的に生成された説明">
            <a:extLst>
              <a:ext uri="{FF2B5EF4-FFF2-40B4-BE49-F238E27FC236}">
                <a16:creationId xmlns:a16="http://schemas.microsoft.com/office/drawing/2014/main" id="{85EDA54D-157F-4143-A80B-3267032CE4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426" r="-1325" b="31625"/>
          <a:stretch/>
        </p:blipFill>
        <p:spPr>
          <a:xfrm>
            <a:off x="6429164" y="5673625"/>
            <a:ext cx="3568304" cy="1027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18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次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94C5E9-DCFD-42EB-99F6-FBFF6FD7D97C}"/>
              </a:ext>
            </a:extLst>
          </p:cNvPr>
          <p:cNvSpPr/>
          <p:nvPr userDrawn="1"/>
        </p:nvSpPr>
        <p:spPr>
          <a:xfrm>
            <a:off x="0" y="0"/>
            <a:ext cx="9906000" cy="6417332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AC9F653D-890E-440D-A047-649A3D837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2" y="1388853"/>
            <a:ext cx="3809354" cy="4788110"/>
          </a:xfrm>
          <a:prstGeom prst="rect">
            <a:avLst/>
          </a:prstGeom>
        </p:spPr>
        <p:txBody>
          <a:bodyPr/>
          <a:lstStyle>
            <a:lvl1pPr marL="289343" indent="-289343">
              <a:lnSpc>
                <a:spcPct val="250000"/>
              </a:lnSpc>
              <a:buFont typeface="+mj-lt"/>
              <a:buAutoNum type="arabicPeriod"/>
              <a:defRPr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3" name="タイトル 1">
            <a:extLst>
              <a:ext uri="{FF2B5EF4-FFF2-40B4-BE49-F238E27FC236}">
                <a16:creationId xmlns:a16="http://schemas.microsoft.com/office/drawing/2014/main" id="{42F1AF78-048A-49CC-B941-A1542787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9958" y="204460"/>
            <a:ext cx="8695048" cy="65246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DD000"/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14" name="コンテンツ プレースホルダー 2">
            <a:extLst>
              <a:ext uri="{FF2B5EF4-FFF2-40B4-BE49-F238E27FC236}">
                <a16:creationId xmlns:a16="http://schemas.microsoft.com/office/drawing/2014/main" id="{64F817AA-BE1A-463D-AF32-77A931F01EA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386964" y="1388853"/>
            <a:ext cx="3738042" cy="478811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250000"/>
              </a:lnSpc>
              <a:buFont typeface="+mj-lt"/>
              <a:buNone/>
              <a:defRPr/>
            </a:lvl1pPr>
          </a:lstStyle>
          <a:p>
            <a:pPr lvl="0"/>
            <a:r>
              <a:rPr kumimoji="1" lang="ja-JP" altLang="en-US" dirty="0"/>
              <a:t>・・・・・</a:t>
            </a:r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746267D4-434B-4761-9D56-3A6441C053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332948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9CE2BC-55D2-4D78-8A0D-3E31D3BE3F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6FA9EF85-8947-4DE7-86FC-5361B2510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3874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A4F02A-6367-4390-84AF-3A8D69A56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buFontTx/>
              <a:buNone/>
              <a:defRPr sz="1600"/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7" name="スライド番号プレースホルダー 5">
            <a:extLst>
              <a:ext uri="{FF2B5EF4-FFF2-40B4-BE49-F238E27FC236}">
                <a16:creationId xmlns:a16="http://schemas.microsoft.com/office/drawing/2014/main" id="{6B17C7B5-3BC1-4AF2-BEC9-D1A51964A7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FBEA89D0-6CD5-45AF-95C2-21124EFE61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960" y="204460"/>
            <a:ext cx="6740054" cy="652462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 dirty="0"/>
              <a:t>タイトルを入力</a:t>
            </a:r>
          </a:p>
        </p:txBody>
      </p:sp>
    </p:spTree>
    <p:extLst>
      <p:ext uri="{BB962C8B-B14F-4D97-AF65-F5344CB8AC3E}">
        <p14:creationId xmlns:p14="http://schemas.microsoft.com/office/powerpoint/2010/main" val="148323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補足説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solidFill>
              <a:srgbClr val="FDD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CCCF494A-20E4-4142-A41D-365E71A54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1214" y="6328844"/>
            <a:ext cx="2916896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4" y="654843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2400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4293387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AD12973-9A52-4C36-8692-D3D5A08345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823086" y="3139281"/>
            <a:ext cx="4259832" cy="57943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1"/>
            </a:lvl1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5" name="スライド番号プレースホルダー 5">
            <a:extLst>
              <a:ext uri="{FF2B5EF4-FFF2-40B4-BE49-F238E27FC236}">
                <a16:creationId xmlns:a16="http://schemas.microsoft.com/office/drawing/2014/main" id="{914C0286-D791-4547-B807-6782BDDD0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365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グレ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6248B3F-BCFD-437A-9710-914B85C4E5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50205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ブランク_ホワイ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F426957-CAD6-40F7-8D0C-0F353F53A097}"/>
              </a:ext>
            </a:extLst>
          </p:cNvPr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 w="142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/>
          </a:p>
        </p:txBody>
      </p:sp>
      <p:sp>
        <p:nvSpPr>
          <p:cNvPr id="4" name="スライド番号プレースホルダー 5">
            <a:extLst>
              <a:ext uri="{FF2B5EF4-FFF2-40B4-BE49-F238E27FC236}">
                <a16:creationId xmlns:a16="http://schemas.microsoft.com/office/drawing/2014/main" id="{D39A7A48-49E7-4231-8B86-4B160CBE7F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9298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sv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4187AA5-C395-4659-8C44-87EB5E588690}"/>
              </a:ext>
            </a:extLst>
          </p:cNvPr>
          <p:cNvSpPr/>
          <p:nvPr userDrawn="1"/>
        </p:nvSpPr>
        <p:spPr>
          <a:xfrm>
            <a:off x="0" y="-9498"/>
            <a:ext cx="9906000" cy="9608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 dirty="0">
              <a:latin typeface="+mn-ea"/>
              <a:ea typeface="+mn-ea"/>
            </a:endParaRPr>
          </a:p>
        </p:txBody>
      </p:sp>
      <p:sp>
        <p:nvSpPr>
          <p:cNvPr id="25" name="タイトル プレースホルダー 1">
            <a:extLst>
              <a:ext uri="{FF2B5EF4-FFF2-40B4-BE49-F238E27FC236}">
                <a16:creationId xmlns:a16="http://schemas.microsoft.com/office/drawing/2014/main" id="{24D5C288-8713-40F9-A67B-BF01D8805E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747" y="213066"/>
            <a:ext cx="6658490" cy="6524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26" name="テキスト プレースホルダー 2">
            <a:extLst>
              <a:ext uri="{FF2B5EF4-FFF2-40B4-BE49-F238E27FC236}">
                <a16:creationId xmlns:a16="http://schemas.microsoft.com/office/drawing/2014/main" id="{D0B8BA59-FD7E-46DD-95CD-F46291349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850" y="1279969"/>
            <a:ext cx="8496300" cy="48969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C6BB8C9-93CC-42A3-8FD0-A3185921B279}"/>
              </a:ext>
            </a:extLst>
          </p:cNvPr>
          <p:cNvSpPr/>
          <p:nvPr userDrawn="1"/>
        </p:nvSpPr>
        <p:spPr>
          <a:xfrm>
            <a:off x="2" y="140530"/>
            <a:ext cx="325040" cy="652462"/>
          </a:xfrm>
          <a:prstGeom prst="round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76A04D-CB44-4C4C-8A2C-143EBD27F2DF}"/>
              </a:ext>
            </a:extLst>
          </p:cNvPr>
          <p:cNvSpPr/>
          <p:nvPr userDrawn="1"/>
        </p:nvSpPr>
        <p:spPr>
          <a:xfrm>
            <a:off x="-1453" y="140530"/>
            <a:ext cx="163976" cy="652462"/>
          </a:xfrm>
          <a:prstGeom prst="rect">
            <a:avLst/>
          </a:prstGeom>
          <a:solidFill>
            <a:srgbClr val="FDD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13"/>
          </a:p>
        </p:txBody>
      </p:sp>
      <p:sp>
        <p:nvSpPr>
          <p:cNvPr id="9" name="スライド番号プレースホルダー 5">
            <a:extLst>
              <a:ext uri="{FF2B5EF4-FFF2-40B4-BE49-F238E27FC236}">
                <a16:creationId xmlns:a16="http://schemas.microsoft.com/office/drawing/2014/main" id="{2906DFC4-3D4A-487B-98AC-A3D486423A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70015" y="6492879"/>
            <a:ext cx="2553891" cy="365125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fld id="{C314D315-6C69-40BF-98D6-60239DAB9584}" type="slidenum">
              <a:rPr lang="ja-JP" altLang="en-US" smtClean="0"/>
              <a:pPr/>
              <a:t>‹#›</a:t>
            </a:fld>
            <a:r>
              <a:rPr lang="ja-JP" altLang="en-US"/>
              <a:t>　</a:t>
            </a:r>
            <a:endParaRPr lang="ja-JP" altLang="en-US" dirty="0"/>
          </a:p>
        </p:txBody>
      </p:sp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B2B8CBE2-832A-470A-8CBD-BD444E1203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312959" y="319127"/>
            <a:ext cx="2268000" cy="36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124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66" r:id="rId3"/>
    <p:sldLayoutId id="2147483662" r:id="rId4"/>
    <p:sldLayoutId id="2147483672" r:id="rId5"/>
    <p:sldLayoutId id="2147483673" r:id="rId6"/>
    <p:sldLayoutId id="2147483675" r:id="rId7"/>
    <p:sldLayoutId id="2147483676" r:id="rId8"/>
  </p:sldLayoutIdLst>
  <p:hf hdr="0" ftr="0" dt="0"/>
  <p:txStyles>
    <p:titleStyle>
      <a:lvl1pPr algn="l" defTabSz="514346" rtl="0" eaLnBrk="1" latinLnBrk="0" hangingPunct="1">
        <a:lnSpc>
          <a:spcPct val="90000"/>
        </a:lnSpc>
        <a:spcBef>
          <a:spcPct val="0"/>
        </a:spcBef>
        <a:buNone/>
        <a:defRPr kumimoji="1" sz="2400" b="1" kern="1200">
          <a:solidFill>
            <a:schemeClr val="tx1"/>
          </a:solidFill>
          <a:latin typeface="+mn-ea"/>
          <a:ea typeface="+mn-ea"/>
          <a:cs typeface="+mj-cs"/>
        </a:defRPr>
      </a:lvl1pPr>
    </p:titleStyle>
    <p:bodyStyle>
      <a:lvl1pPr marL="0" indent="0" algn="l" defTabSz="514346" rtl="0" eaLnBrk="1" latinLnBrk="0" hangingPunct="1">
        <a:lnSpc>
          <a:spcPct val="140000"/>
        </a:lnSpc>
        <a:spcBef>
          <a:spcPts val="563"/>
        </a:spcBef>
        <a:buFontTx/>
        <a:buNone/>
        <a:defRPr kumimoji="1" sz="1600" kern="1200">
          <a:solidFill>
            <a:schemeClr val="tx1"/>
          </a:solidFill>
          <a:latin typeface="+mn-ea"/>
          <a:ea typeface="+mn-ea"/>
          <a:cs typeface="+mn-cs"/>
        </a:defRPr>
      </a:lvl1pPr>
      <a:lvl2pPr marL="385760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2pPr>
      <a:lvl3pPr marL="642932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3pPr>
      <a:lvl4pPr marL="900105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4pPr>
      <a:lvl5pPr marL="1157279" indent="-128587" algn="l" defTabSz="514346" rtl="0" eaLnBrk="1" latinLnBrk="0" hangingPunct="1">
        <a:lnSpc>
          <a:spcPct val="140000"/>
        </a:lnSpc>
        <a:spcBef>
          <a:spcPts val="281"/>
        </a:spcBef>
        <a:buFont typeface="Arial" panose="020B0604020202020204" pitchFamily="34" charset="0"/>
        <a:buChar char="•"/>
        <a:defRPr kumimoji="1" sz="1108" kern="1200">
          <a:solidFill>
            <a:schemeClr val="tx1"/>
          </a:solidFill>
          <a:latin typeface="+mn-ea"/>
          <a:ea typeface="+mn-ea"/>
          <a:cs typeface="+mn-cs"/>
        </a:defRPr>
      </a:lvl5pPr>
      <a:lvl6pPr marL="1414451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625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97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69" indent="-128587" algn="l" defTabSz="514346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73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46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19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91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65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37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210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82" algn="l" defTabSz="514346" rtl="0" eaLnBrk="1" latinLnBrk="0" hangingPunct="1">
        <a:defRPr kumimoji="1"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zenn.dev/baleenstudio/articles/what-is-a-code-review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ischool.utoronto.ca/news/obituary-brian-cantwell-smith-1950-to-2025/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hyperlink" Target="https://aiguide.substack.com/p/on-brian-cantwell-smith-and-the-promise" TargetMode="Externa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人間と</a:t>
            </a:r>
            <a:r>
              <a:rPr lang="en-US" altLang="ja-JP" dirty="0"/>
              <a:t>AI</a:t>
            </a:r>
            <a:r>
              <a:rPr lang="ja-JP" altLang="en-US" dirty="0"/>
              <a:t>の仕事</a:t>
            </a:r>
            <a:r>
              <a:rPr kumimoji="1" lang="ja-JP" altLang="en-US" sz="2600" dirty="0"/>
              <a:t>を設計する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品質管理クラウド　森 大樹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/>
          <p:cNvSpPr txBox="1">
            <a:spLocks/>
          </p:cNvSpPr>
          <p:nvPr/>
        </p:nvSpPr>
        <p:spPr>
          <a:xfrm>
            <a:off x="697186" y="1000000"/>
            <a:ext cx="84963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r>
              <a:rPr kumimoji="1" lang="ja-JP" altLang="en-US" sz="2800" dirty="0"/>
              <a:t>AI</a:t>
            </a:r>
            <a:r>
              <a:rPr lang="ja-JP" altLang="en-US" sz="2800" dirty="0"/>
              <a:t>に</a:t>
            </a:r>
            <a:r>
              <a:rPr kumimoji="1" lang="ja-JP" altLang="en-US" sz="2800" dirty="0"/>
              <a:t>「何ができて、何をやらせるべき」か？</a:t>
            </a:r>
          </a:p>
          <a:p>
            <a:endParaRPr lang="ja-JP" altLang="en-US" dirty="0"/>
          </a:p>
          <a:p>
            <a:endParaRPr lang="ja-JP" altLang="en-US" dirty="0"/>
          </a:p>
          <a:p>
            <a:r>
              <a:rPr kumimoji="1" lang="ja-JP" altLang="en-US" sz="3200" b="1" dirty="0"/>
              <a:t>AI時代に仕事をどう設計するか</a:t>
            </a:r>
            <a:endParaRPr kumimoji="1" lang="en-US" altLang="ja-JP" sz="3200" b="1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54AAFD6A-8F69-762F-CC68-F02F57101B3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653300" y="4365104"/>
            <a:ext cx="2146032" cy="24122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807AA-1893-685C-58DA-275050603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541267B1-6604-BF94-782E-4ECE098B8A6F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　　　　　設計🧑‍💻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577381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2000" dirty="0"/>
              <a:t>事例1 ドキュメント同期パイプライン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「作り方を作る」エンジニアリング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F4D64-0D86-B2F4-4DC2-896DC0828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3311EE5-0203-0781-85EA-E65AB89F4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2024844"/>
            <a:ext cx="8496300" cy="3370709"/>
          </a:xfrm>
        </p:spPr>
        <p:txBody>
          <a:bodyPr>
            <a:normAutofit/>
          </a:bodyPr>
          <a:lstStyle/>
          <a:p>
            <a:r>
              <a:rPr kumimoji="1" lang="ja-JP" altLang="en-US" sz="1600" b="1" dirty="0"/>
              <a:t>Wiki をローカル（Git）で管理</a:t>
            </a:r>
            <a:r>
              <a:rPr lang="ja-JP" altLang="en-US" b="1" dirty="0"/>
              <a:t>したい</a:t>
            </a:r>
            <a:endParaRPr lang="ja-JP" altLang="en-US" dirty="0"/>
          </a:p>
          <a:p>
            <a:pPr lvl="1"/>
            <a:r>
              <a:rPr kumimoji="1" lang="ja-JP" altLang="en-US" sz="1600" dirty="0"/>
              <a:t>コーディングエージェントはローカル情報に最も効率よくアクセスできる</a:t>
            </a:r>
          </a:p>
          <a:p>
            <a:pPr lvl="1"/>
            <a:r>
              <a:rPr kumimoji="1" lang="ja-JP" altLang="en-US" sz="1600" dirty="0"/>
              <a:t>Wiki を読んで既存仕様との整合性チェックができる</a:t>
            </a:r>
          </a:p>
          <a:p>
            <a:pPr lvl="1"/>
            <a:r>
              <a:rPr kumimoji="1" lang="ja-JP" altLang="en-US" sz="1600" dirty="0"/>
              <a:t>Git 管理にすれば GitHub Actions に組み込める</a:t>
            </a:r>
            <a:endParaRPr kumimoji="1" lang="en-US" altLang="ja-JP" sz="1600" dirty="0"/>
          </a:p>
          <a:p>
            <a:pPr lvl="1"/>
            <a:endParaRPr kumimoji="1" lang="en-US" altLang="ja-JP" sz="1600" dirty="0"/>
          </a:p>
          <a:p>
            <a:r>
              <a:rPr lang="ja-JP" altLang="en-US" b="1" dirty="0"/>
              <a:t>発想・方法</a:t>
            </a:r>
          </a:p>
          <a:p>
            <a:pPr lvl="1"/>
            <a:r>
              <a:rPr lang="ja-JP" altLang="en-US" sz="1600" dirty="0"/>
              <a:t>移行ツールを</a:t>
            </a:r>
            <a:r>
              <a:rPr lang="en-US" altLang="ja-JP" sz="1600" dirty="0"/>
              <a:t>AI</a:t>
            </a:r>
            <a:r>
              <a:rPr lang="ja-JP" altLang="en-US" sz="1600" dirty="0"/>
              <a:t>に作らせよう</a:t>
            </a:r>
            <a:endParaRPr lang="en-US" altLang="ja-JP" sz="1600" dirty="0"/>
          </a:p>
          <a:p>
            <a:pPr lvl="1"/>
            <a:r>
              <a:rPr kumimoji="1" lang="ja-JP" altLang="en-US" sz="1600" dirty="0"/>
              <a:t>どうやって運用するかも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と考えよう</a:t>
            </a:r>
            <a:endParaRPr kumimoji="1" lang="en-US" altLang="ja-JP" sz="1600" dirty="0"/>
          </a:p>
          <a:p>
            <a:pPr marL="257173" lvl="1" indent="0">
              <a:buNone/>
            </a:pPr>
            <a:endParaRPr kumimoji="1" lang="ja-JP" altLang="en-US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3A01FFDE-AF63-C8F1-30DD-9894BC1C8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何をしたかったか？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FE6EAA3E-3920-768B-743C-2CE59EBBD0D3}"/>
              </a:ext>
            </a:extLst>
          </p:cNvPr>
          <p:cNvSpPr/>
          <p:nvPr/>
        </p:nvSpPr>
        <p:spPr>
          <a:xfrm>
            <a:off x="6033120" y="2983285"/>
            <a:ext cx="2448272" cy="864096"/>
          </a:xfrm>
          <a:prstGeom prst="wedgeRectCallout">
            <a:avLst>
              <a:gd name="adj1" fmla="val -42448"/>
              <a:gd name="adj2" fmla="val -6730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フレンドリーな</a:t>
            </a:r>
            <a:endParaRPr lang="en-US" altLang="ja-JP" dirty="0"/>
          </a:p>
          <a:p>
            <a:pPr algn="ctr"/>
            <a:r>
              <a:rPr lang="ja-JP" altLang="en-US" dirty="0"/>
              <a:t>環境づくり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EF177DB4-079B-37D0-7336-8BD1DBDCD6F7}"/>
              </a:ext>
            </a:extLst>
          </p:cNvPr>
          <p:cNvSpPr/>
          <p:nvPr/>
        </p:nvSpPr>
        <p:spPr>
          <a:xfrm>
            <a:off x="4967064" y="4272886"/>
            <a:ext cx="2736304" cy="864096"/>
          </a:xfrm>
          <a:prstGeom prst="wedgeRectCallout">
            <a:avLst>
              <a:gd name="adj1" fmla="val -62616"/>
              <a:gd name="adj2" fmla="val 253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ドキュメントが腐らない運用を考える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70736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77477-9C47-4C23-E886-9CA14EF63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87F4FFFA-717C-2077-443C-0E519FF169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6"/>
            <a:ext cx="8496300" cy="5371113"/>
          </a:xfrm>
        </p:spPr>
        <p:txBody>
          <a:bodyPr>
            <a:normAutofit/>
          </a:bodyPr>
          <a:lstStyle/>
          <a:p>
            <a:r>
              <a:rPr lang="ja-JP" altLang="en-US" sz="1800" b="1" dirty="0"/>
              <a:t>制約:</a:t>
            </a:r>
            <a:endParaRPr kumimoji="1" lang="en-US" altLang="ja-JP" sz="1800" dirty="0"/>
          </a:p>
          <a:p>
            <a:pPr lvl="1"/>
            <a:r>
              <a:rPr kumimoji="1" lang="ja-JP" altLang="en-US" sz="1800" dirty="0"/>
              <a:t>GROWI </a:t>
            </a:r>
            <a:r>
              <a:rPr lang="ja-JP" altLang="en-US" sz="1800" dirty="0"/>
              <a:t>は </a:t>
            </a:r>
            <a:r>
              <a:rPr kumimoji="1" lang="ja-JP" altLang="en-US" sz="1800" dirty="0"/>
              <a:t>社内 </a:t>
            </a:r>
            <a:r>
              <a:rPr lang="ja-JP" altLang="en-US" sz="1800" dirty="0"/>
              <a:t>ネットワークからしかアクセス不可</a:t>
            </a:r>
            <a:r>
              <a:rPr kumimoji="1" lang="ja-JP" altLang="en-US" sz="1800" dirty="0"/>
              <a:t>       </a:t>
            </a:r>
            <a:br>
              <a:rPr kumimoji="1" lang="en-US" altLang="ja-JP" sz="1800" dirty="0"/>
            </a:br>
            <a:endParaRPr kumimoji="1" lang="ja-JP" altLang="en-US" sz="1800" dirty="0"/>
          </a:p>
          <a:p>
            <a:pPr lvl="1"/>
            <a:r>
              <a:rPr kumimoji="1" lang="ja-JP" altLang="en-US" sz="1800" dirty="0"/>
              <a:t>Git 画像でリポジトリが重くなる   </a:t>
            </a:r>
            <a:br>
              <a:rPr kumimoji="1" lang="en-US" altLang="ja-JP" sz="1800" dirty="0"/>
            </a:br>
            <a:endParaRPr kumimoji="1" lang="ja-JP" altLang="en-US" sz="1800" dirty="0"/>
          </a:p>
          <a:p>
            <a:pPr lvl="1"/>
            <a:r>
              <a:rPr kumimoji="1" lang="ja-JP" altLang="en-US" sz="1800" dirty="0"/>
              <a:t>Blob に格納する手順が面倒   </a:t>
            </a:r>
            <a:br>
              <a:rPr kumimoji="1" lang="en-US" altLang="ja-JP" sz="1800" dirty="0"/>
            </a:br>
            <a:endParaRPr lang="en-US" altLang="ja-JP" sz="1800" dirty="0"/>
          </a:p>
          <a:p>
            <a:pPr lvl="1"/>
            <a:endParaRPr kumimoji="1" lang="en-US" altLang="ja-JP" sz="1800" dirty="0"/>
          </a:p>
          <a:p>
            <a:pPr lvl="1"/>
            <a:r>
              <a:rPr lang="ja-JP" altLang="en-US" sz="1800" dirty="0"/>
              <a:t>品質管理部の方が</a:t>
            </a:r>
            <a:r>
              <a:rPr lang="en-US" altLang="ja-JP" sz="1800" dirty="0"/>
              <a:t>Wiki</a:t>
            </a:r>
            <a:r>
              <a:rPr lang="ja-JP" altLang="en-US" sz="1800" dirty="0"/>
              <a:t>編集したい場合は？</a:t>
            </a:r>
            <a:endParaRPr lang="en-US" altLang="ja-JP" sz="1800" dirty="0"/>
          </a:p>
          <a:p>
            <a:pPr lvl="1"/>
            <a:r>
              <a:rPr lang="ja-JP" altLang="en-US" sz="1800" dirty="0"/>
              <a:t>仕様ページ（</a:t>
            </a:r>
            <a:r>
              <a:rPr lang="en-US" altLang="ja-JP" sz="1800" dirty="0"/>
              <a:t>193</a:t>
            </a:r>
            <a:r>
              <a:rPr lang="ja-JP" altLang="en-US" sz="1800" dirty="0"/>
              <a:t>ページ） の移行はどうする？</a:t>
            </a: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  <a:p>
            <a:pPr marL="257173" lvl="1" indent="0">
              <a:buNone/>
            </a:pPr>
            <a:endParaRPr lang="en-US" altLang="ja-JP" sz="18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8FCC6D1-762E-B32E-373A-7A37977C8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制約：何を気にする必要があったか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9540A863-1177-CF01-189A-8FCE7188CCD9}"/>
              </a:ext>
            </a:extLst>
          </p:cNvPr>
          <p:cNvSpPr/>
          <p:nvPr/>
        </p:nvSpPr>
        <p:spPr>
          <a:xfrm>
            <a:off x="5169024" y="2276872"/>
            <a:ext cx="2808312" cy="468052"/>
          </a:xfrm>
          <a:prstGeom prst="wedgeRectCallout">
            <a:avLst>
              <a:gd name="adj1" fmla="val -38958"/>
              <a:gd name="adj2" fmla="val -9514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selfhost ランナー</a:t>
            </a:r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BEE6FA36-D461-1B8F-13B0-81FACDC1A0B7}"/>
              </a:ext>
            </a:extLst>
          </p:cNvPr>
          <p:cNvSpPr/>
          <p:nvPr/>
        </p:nvSpPr>
        <p:spPr>
          <a:xfrm>
            <a:off x="4340932" y="3105779"/>
            <a:ext cx="3456384" cy="654615"/>
          </a:xfrm>
          <a:prstGeom prst="wedgeRectCallout">
            <a:avLst>
              <a:gd name="adj1" fmla="val -46061"/>
              <a:gd name="adj2" fmla="val -86766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Azure Blob ストレージに</a:t>
            </a:r>
            <a:br>
              <a:rPr lang="en-US" altLang="ja-JP" dirty="0"/>
            </a:br>
            <a:r>
              <a:rPr lang="ja-JP" altLang="en-US" dirty="0"/>
              <a:t>保存してリンクを張る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BBF654A3-3036-F8AC-A16E-4520E0072BA0}"/>
              </a:ext>
            </a:extLst>
          </p:cNvPr>
          <p:cNvSpPr/>
          <p:nvPr/>
        </p:nvSpPr>
        <p:spPr>
          <a:xfrm>
            <a:off x="2972780" y="3967982"/>
            <a:ext cx="3456384" cy="654615"/>
          </a:xfrm>
          <a:prstGeom prst="wedgeRectCallout">
            <a:avLst>
              <a:gd name="adj1" fmla="val -31775"/>
              <a:gd name="adj2" fmla="val -9235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CLI スクリプト </a:t>
            </a:r>
            <a:br>
              <a:rPr lang="en-US" altLang="ja-JP" dirty="0"/>
            </a:br>
            <a:r>
              <a:rPr lang="ja-JP" altLang="en-US" dirty="0"/>
              <a:t>+ ショートカットで実行</a:t>
            </a:r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727F26EB-507B-D8E8-8B66-38959370A888}"/>
              </a:ext>
            </a:extLst>
          </p:cNvPr>
          <p:cNvSpPr/>
          <p:nvPr/>
        </p:nvSpPr>
        <p:spPr>
          <a:xfrm>
            <a:off x="2021009" y="5650486"/>
            <a:ext cx="3557956" cy="576273"/>
          </a:xfrm>
          <a:prstGeom prst="wedgeRectCallout">
            <a:avLst>
              <a:gd name="adj1" fmla="val -34431"/>
              <a:gd name="adj2" fmla="val -9333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altLang="ja-JP" dirty="0" err="1"/>
              <a:t>Growi</a:t>
            </a:r>
            <a:r>
              <a:rPr lang="ja-JP" altLang="en-US" dirty="0"/>
              <a:t>からリポジトリへの</a:t>
            </a:r>
            <a:br>
              <a:rPr lang="en-US" altLang="ja-JP" dirty="0"/>
            </a:br>
            <a:r>
              <a:rPr lang="ja-JP" altLang="en-US" dirty="0"/>
              <a:t>取り込みツール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3BDD8B27-C3DA-BA08-1C19-5573ECACAE25}"/>
              </a:ext>
            </a:extLst>
          </p:cNvPr>
          <p:cNvSpPr/>
          <p:nvPr/>
        </p:nvSpPr>
        <p:spPr>
          <a:xfrm>
            <a:off x="6084316" y="5840919"/>
            <a:ext cx="3726253" cy="853559"/>
          </a:xfrm>
          <a:prstGeom prst="wedgeRectCallout">
            <a:avLst>
              <a:gd name="adj1" fmla="val -35657"/>
              <a:gd name="adj2" fmla="val -9761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57173" lvl="1" indent="0">
              <a:buNone/>
            </a:pPr>
            <a:r>
              <a:rPr lang="ja-JP" altLang="en-US" dirty="0"/>
              <a:t>仕組みを決めてしまえば、</a:t>
            </a:r>
            <a:br>
              <a:rPr lang="en-US" altLang="ja-JP" dirty="0"/>
            </a:br>
            <a:r>
              <a:rPr lang="en-US" altLang="ja-JP" dirty="0"/>
              <a:t>AI</a:t>
            </a:r>
            <a:r>
              <a:rPr lang="ja-JP" altLang="en-US" dirty="0"/>
              <a:t>🤖がサクッと実装してくれる</a:t>
            </a: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04249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0A4F3-BB96-ABB7-A25D-F8274FBEC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A2E755C0-E1FD-D13E-6468-F84AB7CB41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566" b="-732"/>
          <a:stretch>
            <a:fillRect/>
          </a:stretch>
        </p:blipFill>
        <p:spPr>
          <a:xfrm>
            <a:off x="1338474" y="2875712"/>
            <a:ext cx="7458660" cy="1944216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2A6ACB0A-06E7-B93F-A4B2-73267D18B8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951" b="33315"/>
          <a:stretch>
            <a:fillRect/>
          </a:stretch>
        </p:blipFill>
        <p:spPr>
          <a:xfrm>
            <a:off x="1223670" y="4775575"/>
            <a:ext cx="7458660" cy="20309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6B1BCE6B-B974-89F0-C145-B0F41947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何を作った？　</a:t>
            </a:r>
            <a:br>
              <a:rPr kumimoji="1" lang="en-US" altLang="ja-JP" dirty="0"/>
            </a:br>
            <a:r>
              <a:rPr kumimoji="1" lang="ja-JP" altLang="en-US" dirty="0"/>
              <a:t>①</a:t>
            </a:r>
            <a:r>
              <a:rPr lang="ja-JP" altLang="en-US" dirty="0"/>
              <a:t>ローカルから</a:t>
            </a:r>
            <a:r>
              <a:rPr lang="en-US" altLang="ja-JP" dirty="0" err="1"/>
              <a:t>Growi</a:t>
            </a:r>
            <a:r>
              <a:rPr lang="ja-JP" altLang="en-US" dirty="0"/>
              <a:t>を更新するための</a:t>
            </a:r>
            <a:r>
              <a:rPr lang="en-US" altLang="ja-JP" dirty="0"/>
              <a:t>CLI</a:t>
            </a:r>
            <a:r>
              <a:rPr lang="ja-JP" altLang="en-US" dirty="0"/>
              <a:t>ツール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41B5B65-B564-20F1-EABD-9CB9998A81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7731"/>
          <a:stretch>
            <a:fillRect/>
          </a:stretch>
        </p:blipFill>
        <p:spPr>
          <a:xfrm>
            <a:off x="1223670" y="1029671"/>
            <a:ext cx="7458660" cy="1784075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5D2B02A-60EA-5976-757D-17D36F6D62D5}"/>
              </a:ext>
            </a:extLst>
          </p:cNvPr>
          <p:cNvSpPr/>
          <p:nvPr/>
        </p:nvSpPr>
        <p:spPr>
          <a:xfrm>
            <a:off x="6350933" y="1881094"/>
            <a:ext cx="1662407" cy="863829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40B2DF3A-D093-6067-19BC-BD3B9589347D}"/>
              </a:ext>
            </a:extLst>
          </p:cNvPr>
          <p:cNvSpPr/>
          <p:nvPr/>
        </p:nvSpPr>
        <p:spPr>
          <a:xfrm>
            <a:off x="1424608" y="5209514"/>
            <a:ext cx="1692188" cy="528915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86E73C4-19CC-A03B-D671-42F658BA1E0F}"/>
              </a:ext>
            </a:extLst>
          </p:cNvPr>
          <p:cNvSpPr/>
          <p:nvPr/>
        </p:nvSpPr>
        <p:spPr>
          <a:xfrm>
            <a:off x="4448941" y="6043925"/>
            <a:ext cx="618861" cy="775123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889B584-EF3B-6AD0-C92F-8FBECA8EB41B}"/>
              </a:ext>
            </a:extLst>
          </p:cNvPr>
          <p:cNvSpPr/>
          <p:nvPr/>
        </p:nvSpPr>
        <p:spPr>
          <a:xfrm>
            <a:off x="1424608" y="2946676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A34ECBDC-5D0E-6CCD-4D3B-96029381A264}"/>
              </a:ext>
            </a:extLst>
          </p:cNvPr>
          <p:cNvSpPr/>
          <p:nvPr/>
        </p:nvSpPr>
        <p:spPr>
          <a:xfrm>
            <a:off x="6350933" y="3092118"/>
            <a:ext cx="764475" cy="72118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15B37F24-3F62-1A6A-18F2-F2339234382E}"/>
              </a:ext>
            </a:extLst>
          </p:cNvPr>
          <p:cNvSpPr/>
          <p:nvPr/>
        </p:nvSpPr>
        <p:spPr>
          <a:xfrm>
            <a:off x="3884686" y="4066273"/>
            <a:ext cx="1747373" cy="629501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7CA2F306-6387-0A48-12E8-C12B4F9B26F3}"/>
              </a:ext>
            </a:extLst>
          </p:cNvPr>
          <p:cNvSpPr/>
          <p:nvPr/>
        </p:nvSpPr>
        <p:spPr>
          <a:xfrm>
            <a:off x="1415772" y="1648486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9D56BD1F-8B6C-FB95-02A5-D3D5D3B0CA8A}"/>
              </a:ext>
            </a:extLst>
          </p:cNvPr>
          <p:cNvSpPr/>
          <p:nvPr/>
        </p:nvSpPr>
        <p:spPr>
          <a:xfrm>
            <a:off x="1424608" y="4988082"/>
            <a:ext cx="1701024" cy="159154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219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9E254-E99D-BA44-F8C7-33C2A2D7A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75FFB37-601C-560C-CF7A-5414F9915E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850" y="1880828"/>
            <a:ext cx="8496300" cy="4658826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E288EF09-2924-4D6D-BD7E-6B7213BCE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何を作った？</a:t>
            </a:r>
            <a:br>
              <a:rPr kumimoji="1" lang="en-US" altLang="ja-JP" dirty="0"/>
            </a:br>
            <a:r>
              <a:rPr kumimoji="1" lang="ja-JP" altLang="en-US" dirty="0"/>
              <a:t>②</a:t>
            </a:r>
            <a:r>
              <a:rPr lang="en-US" altLang="ja-JP" dirty="0"/>
              <a:t>PUSH</a:t>
            </a:r>
            <a:r>
              <a:rPr lang="ja-JP" altLang="en-US" dirty="0"/>
              <a:t>したら</a:t>
            </a:r>
            <a:r>
              <a:rPr lang="en-US" altLang="ja-JP" dirty="0" err="1"/>
              <a:t>Growi</a:t>
            </a:r>
            <a:r>
              <a:rPr lang="ja-JP" altLang="en-US" dirty="0"/>
              <a:t>に同期する </a:t>
            </a:r>
            <a:r>
              <a:rPr lang="en-US" altLang="ja-JP" dirty="0" err="1"/>
              <a:t>Github</a:t>
            </a:r>
            <a:r>
              <a:rPr lang="en-US" altLang="ja-JP" dirty="0"/>
              <a:t> Actions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7140A9-0E55-6B3A-0406-8696AE2F946C}"/>
              </a:ext>
            </a:extLst>
          </p:cNvPr>
          <p:cNvSpPr txBox="1"/>
          <p:nvPr/>
        </p:nvSpPr>
        <p:spPr>
          <a:xfrm>
            <a:off x="560512" y="1232756"/>
            <a:ext cx="4951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dirty="0"/>
              <a:t>運用フロー</a:t>
            </a:r>
            <a:endParaRPr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2341F91-C46A-1F63-343A-B51A671A2736}"/>
              </a:ext>
            </a:extLst>
          </p:cNvPr>
          <p:cNvSpPr/>
          <p:nvPr/>
        </p:nvSpPr>
        <p:spPr>
          <a:xfrm>
            <a:off x="1344062" y="2312877"/>
            <a:ext cx="1448698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F580F91-BBFE-E155-5823-7590908F87ED}"/>
              </a:ext>
            </a:extLst>
          </p:cNvPr>
          <p:cNvSpPr/>
          <p:nvPr/>
        </p:nvSpPr>
        <p:spPr>
          <a:xfrm>
            <a:off x="1344062" y="4443989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ADF93C5-F85F-A0F9-685D-BD30A17C7C9C}"/>
              </a:ext>
            </a:extLst>
          </p:cNvPr>
          <p:cNvSpPr/>
          <p:nvPr/>
        </p:nvSpPr>
        <p:spPr>
          <a:xfrm>
            <a:off x="1308058" y="3378433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1317749-1F72-25FE-73D1-01C917EE31D2}"/>
              </a:ext>
            </a:extLst>
          </p:cNvPr>
          <p:cNvSpPr/>
          <p:nvPr/>
        </p:nvSpPr>
        <p:spPr>
          <a:xfrm>
            <a:off x="3620852" y="4454825"/>
            <a:ext cx="1520706" cy="43204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8AA5CE4-83D4-328C-3E4E-55A78DCEA00F}"/>
              </a:ext>
            </a:extLst>
          </p:cNvPr>
          <p:cNvSpPr/>
          <p:nvPr/>
        </p:nvSpPr>
        <p:spPr>
          <a:xfrm>
            <a:off x="1424608" y="5509544"/>
            <a:ext cx="1520706" cy="54774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2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何が良かったか？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2685930-C837-0D54-8400-06198893FC92}"/>
              </a:ext>
            </a:extLst>
          </p:cNvPr>
          <p:cNvSpPr txBox="1"/>
          <p:nvPr/>
        </p:nvSpPr>
        <p:spPr>
          <a:xfrm>
            <a:off x="581142" y="1353809"/>
            <a:ext cx="8619082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ja-JP" altLang="en-US" sz="24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仕様</a:t>
            </a:r>
            <a:r>
              <a:rPr lang="ja-JP" altLang="en-US" sz="2000" b="1" dirty="0"/>
              <a:t>ドキュメントを Git 管理</a:t>
            </a: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移行作業はほぼ一瞬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b="1" dirty="0"/>
              <a:t>仕様をコードから AI で生成 </a:t>
            </a:r>
            <a:endParaRPr lang="en-US" altLang="ja-JP" sz="20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ja-JP" altLang="en-US" sz="2000" b="1" dirty="0"/>
              <a:t>→ 過程でバグも発見</a:t>
            </a:r>
            <a:endParaRPr lang="en-US" altLang="ja-JP" sz="20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ja-JP" alt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コミット履歴で貢献が見える</a:t>
            </a:r>
            <a:endParaRPr lang="en-US" altLang="ja-JP" sz="2000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8957AAA6-B194-7F8F-8665-2C8B4FF4A582}"/>
              </a:ext>
            </a:extLst>
          </p:cNvPr>
          <p:cNvSpPr/>
          <p:nvPr/>
        </p:nvSpPr>
        <p:spPr>
          <a:xfrm>
            <a:off x="3799187" y="2932045"/>
            <a:ext cx="4178149" cy="525207"/>
          </a:xfrm>
          <a:prstGeom prst="wedgeRectCallout">
            <a:avLst>
              <a:gd name="adj1" fmla="val -43886"/>
              <a:gd name="adj2" fmla="val -7407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193 ファイルの移行が一瞬で完了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F760B43F-9B03-FBD1-5433-B2DB7E4C89A0}"/>
              </a:ext>
            </a:extLst>
          </p:cNvPr>
          <p:cNvSpPr/>
          <p:nvPr/>
        </p:nvSpPr>
        <p:spPr>
          <a:xfrm>
            <a:off x="4890683" y="3925955"/>
            <a:ext cx="3557541" cy="621138"/>
          </a:xfrm>
          <a:prstGeom prst="wedgeRectCallout">
            <a:avLst>
              <a:gd name="adj1" fmla="val -62716"/>
              <a:gd name="adj2" fmla="val -2583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S</a:t>
            </a:r>
            <a:r>
              <a:rPr lang="en-US" altLang="ja-JP" dirty="0"/>
              <a:t>ingle </a:t>
            </a:r>
            <a:r>
              <a:rPr lang="ja-JP" altLang="en-US" dirty="0"/>
              <a:t>S</a:t>
            </a:r>
            <a:r>
              <a:rPr lang="en-US" altLang="ja-JP" dirty="0" err="1"/>
              <a:t>ourse</a:t>
            </a:r>
            <a:r>
              <a:rPr lang="en-US" altLang="ja-JP" dirty="0"/>
              <a:t> </a:t>
            </a:r>
            <a:r>
              <a:rPr lang="ja-JP" altLang="en-US" dirty="0"/>
              <a:t>O</a:t>
            </a:r>
            <a:r>
              <a:rPr lang="en-US" altLang="ja-JP" dirty="0"/>
              <a:t>f </a:t>
            </a:r>
            <a:r>
              <a:rPr lang="ja-JP" altLang="en-US" dirty="0"/>
              <a:t>T</a:t>
            </a:r>
            <a:r>
              <a:rPr lang="en-US" altLang="ja-JP" dirty="0" err="1"/>
              <a:t>rueth</a:t>
            </a:r>
            <a:r>
              <a:rPr lang="ja-JP" altLang="en-US" dirty="0"/>
              <a:t> の恩恵</a:t>
            </a:r>
            <a:endParaRPr kumimoji="1" lang="ja-JP" altLang="en-US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F834D801-626B-6896-86CD-78A50E36DCA8}"/>
              </a:ext>
            </a:extLst>
          </p:cNvPr>
          <p:cNvSpPr/>
          <p:nvPr/>
        </p:nvSpPr>
        <p:spPr>
          <a:xfrm>
            <a:off x="3799187" y="5505267"/>
            <a:ext cx="4649038" cy="494013"/>
          </a:xfrm>
          <a:prstGeom prst="wedgeRectCallout">
            <a:avLst>
              <a:gd name="adj1" fmla="val -37515"/>
              <a:gd name="adj2" fmla="val -1197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エンジニアの心得：小さなことに感謝する</a:t>
            </a:r>
            <a:endParaRPr kumimoji="1" lang="ja-JP" altLang="en-US" dirty="0"/>
          </a:p>
        </p:txBody>
      </p:sp>
      <p:sp>
        <p:nvSpPr>
          <p:cNvPr id="13" name="吹き出し: 四角形 12">
            <a:extLst>
              <a:ext uri="{FF2B5EF4-FFF2-40B4-BE49-F238E27FC236}">
                <a16:creationId xmlns:a16="http://schemas.microsoft.com/office/drawing/2014/main" id="{2B72902B-5C0F-2045-CCF6-BC852865D506}"/>
              </a:ext>
            </a:extLst>
          </p:cNvPr>
          <p:cNvSpPr/>
          <p:nvPr/>
        </p:nvSpPr>
        <p:spPr>
          <a:xfrm>
            <a:off x="4580378" y="2102587"/>
            <a:ext cx="4178149" cy="525207"/>
          </a:xfrm>
          <a:prstGeom prst="wedgeRectCallout">
            <a:avLst>
              <a:gd name="adj1" fmla="val -43886"/>
              <a:gd name="adj2" fmla="val -7407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コード↔ドキュメントの連携が可能に</a:t>
            </a:r>
            <a:endParaRPr kumimoji="1" lang="ja-JP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9" grpId="0" animBg="1"/>
      <p:bldP spid="10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08484" y="1282426"/>
            <a:ext cx="8892666" cy="5371113"/>
          </a:xfrm>
        </p:spPr>
        <p:txBody>
          <a:bodyPr>
            <a:normAutofit/>
          </a:bodyPr>
          <a:lstStyle/>
          <a:p>
            <a:pPr marL="257173" lvl="1" indent="0" algn="ctr">
              <a:buNone/>
            </a:pPr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2000" dirty="0"/>
              <a:t>　　</a:t>
            </a:r>
            <a:r>
              <a:rPr lang="ja-JP" altLang="en-US" sz="2600" dirty="0"/>
              <a:t>設計🧑‍💻　　　　   設計🧑‍💻　　     　　   　設計🧑‍💻</a:t>
            </a:r>
            <a:br>
              <a:rPr lang="en-US" altLang="ja-JP" sz="2600" dirty="0"/>
            </a:br>
            <a:r>
              <a:rPr lang="ja-JP" altLang="en-US" sz="2000" dirty="0"/>
              <a:t>　　 ↓ 作業</a:t>
            </a:r>
            <a:r>
              <a:rPr lang="ja-JP" altLang="en-US" sz="1700" b="1" dirty="0">
                <a:solidFill>
                  <a:srgbClr val="FDD000"/>
                </a:solidFill>
              </a:rPr>
              <a:t>フロー</a:t>
            </a:r>
            <a:r>
              <a:rPr lang="ja-JP" altLang="en-US" sz="1700" dirty="0"/>
              <a:t>を</a:t>
            </a:r>
            <a:r>
              <a:rPr lang="ja-JP" altLang="en-US" sz="1800" dirty="0"/>
              <a:t>設計</a:t>
            </a:r>
            <a:r>
              <a:rPr lang="ja-JP" altLang="en-US" sz="1700" dirty="0"/>
              <a:t>　</a:t>
            </a:r>
            <a:r>
              <a:rPr lang="ja-JP" altLang="en-US" sz="2000" dirty="0"/>
              <a:t>    ↓　　　　　　　　   　　       ↓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　　 ↓　　　　　　            ↓</a:t>
            </a:r>
            <a:r>
              <a:rPr lang="ja-JP" altLang="en-US" sz="1400" dirty="0"/>
              <a:t>ツールを作成</a:t>
            </a:r>
            <a:r>
              <a:rPr lang="ja-JP" altLang="en-US" sz="1800" dirty="0"/>
              <a:t>🤖</a:t>
            </a:r>
            <a:r>
              <a:rPr lang="ja-JP" altLang="en-US" sz="1200" dirty="0"/>
              <a:t>　　　　　　　　</a:t>
            </a:r>
            <a:r>
              <a:rPr lang="ja-JP" altLang="en-US" sz="1900" dirty="0"/>
              <a:t>          ↓</a:t>
            </a:r>
            <a:r>
              <a:rPr lang="ja-JP" altLang="en-US" sz="1300" dirty="0"/>
              <a:t>ツールを作成</a:t>
            </a:r>
            <a:r>
              <a:rPr lang="ja-JP" altLang="en-US" sz="1700" dirty="0"/>
              <a:t>🤖</a:t>
            </a:r>
            <a:endParaRPr lang="en-US" altLang="ja-JP" sz="2000" dirty="0"/>
          </a:p>
          <a:p>
            <a:pPr marL="257173" lvl="1" indent="0">
              <a:buNone/>
            </a:pPr>
            <a:r>
              <a:rPr lang="ja-JP" altLang="en-US" sz="2000" dirty="0"/>
              <a:t> 　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このページを取込みたい→ 取り込み🛠️→</a:t>
            </a:r>
            <a:r>
              <a:rPr lang="ja-JP" altLang="en-US" sz="2400" dirty="0"/>
              <a:t>🧑‍💻</a:t>
            </a:r>
            <a:r>
              <a:rPr lang="ja-JP" altLang="en-US" sz="1600" dirty="0"/>
              <a:t>変更してプッシュ →</a:t>
            </a:r>
            <a:r>
              <a:rPr lang="en-US" altLang="ja-JP" sz="1600" dirty="0" err="1"/>
              <a:t>Growi</a:t>
            </a:r>
            <a:r>
              <a:rPr lang="ja-JP" altLang="en-US" sz="1600" dirty="0"/>
              <a:t>同期🛠️</a:t>
            </a:r>
            <a:endParaRPr kumimoji="1" lang="en-US" altLang="ja-JP" sz="16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作り方を作る　</a:t>
            </a:r>
            <a:r>
              <a:rPr lang="ja-JP" altLang="en-US" sz="2000" dirty="0"/>
              <a:t>エンジニアリング エンジニアリング</a:t>
            </a:r>
            <a:endParaRPr lang="ja-JP" altLang="en-US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BE5C731-1148-FC00-2B0A-B52D1A379F98}"/>
              </a:ext>
            </a:extLst>
          </p:cNvPr>
          <p:cNvSpPr/>
          <p:nvPr/>
        </p:nvSpPr>
        <p:spPr>
          <a:xfrm>
            <a:off x="596516" y="1628800"/>
            <a:ext cx="8604956" cy="2340260"/>
          </a:xfrm>
          <a:prstGeom prst="roundRect">
            <a:avLst/>
          </a:prstGeom>
          <a:noFill/>
          <a:ln w="19050" cap="flat" cmpd="sng" algn="ctr">
            <a:solidFill>
              <a:srgbClr val="D9D9D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BAEF935F-3859-1001-6E13-67C04C0B9ABD}"/>
              </a:ext>
            </a:extLst>
          </p:cNvPr>
          <p:cNvSpPr/>
          <p:nvPr/>
        </p:nvSpPr>
        <p:spPr>
          <a:xfrm>
            <a:off x="834734" y="3248980"/>
            <a:ext cx="8128520" cy="540060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820ED7B-9C27-7360-4C2E-06C96C63070C}"/>
              </a:ext>
            </a:extLst>
          </p:cNvPr>
          <p:cNvSpPr txBox="1"/>
          <p:nvPr/>
        </p:nvSpPr>
        <p:spPr>
          <a:xfrm>
            <a:off x="834734" y="1097760"/>
            <a:ext cx="8128520" cy="369332"/>
          </a:xfrm>
          <a:prstGeom prst="rect">
            <a:avLst/>
          </a:prstGeom>
          <a:solidFill>
            <a:srgbClr val="FDD000"/>
          </a:solidFill>
        </p:spPr>
        <p:txBody>
          <a:bodyPr wrap="square">
            <a:spAutoFit/>
          </a:bodyPr>
          <a:lstStyle/>
          <a:p>
            <a:pPr marL="257173" lvl="1" indent="0">
              <a:buNone/>
            </a:pPr>
            <a:r>
              <a:rPr lang="ja-JP" altLang="en-US" dirty="0"/>
              <a:t>↓課題</a:t>
            </a:r>
            <a:r>
              <a:rPr lang="ja-JP" altLang="en-US" sz="1800" dirty="0"/>
              <a:t>や制約をもとに仕組みを設計する過程＝</a:t>
            </a:r>
            <a:r>
              <a:rPr lang="ja-JP" altLang="en-US" sz="1800" b="1" dirty="0"/>
              <a:t>エンジニアリング</a:t>
            </a:r>
            <a:r>
              <a:rPr lang="ja-JP" altLang="en-US" sz="1800" dirty="0"/>
              <a:t>そのもの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DB0C843-FD48-DFE9-7E6A-E1265A0FA85F}"/>
              </a:ext>
            </a:extLst>
          </p:cNvPr>
          <p:cNvSpPr txBox="1"/>
          <p:nvPr/>
        </p:nvSpPr>
        <p:spPr>
          <a:xfrm>
            <a:off x="429960" y="4222310"/>
            <a:ext cx="813706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人間は</a:t>
            </a:r>
            <a:r>
              <a:rPr lang="ja-JP" altLang="en-US" sz="2000" b="1" dirty="0"/>
              <a:t>チームの作業フローを設計</a:t>
            </a:r>
            <a:r>
              <a:rPr lang="ja-JP" altLang="en-US" sz="2000" dirty="0"/>
              <a:t>する</a:t>
            </a:r>
            <a:endParaRPr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altLang="ja-JP" sz="2000" dirty="0"/>
          </a:p>
          <a:p>
            <a:pPr lvl="2"/>
            <a:endParaRPr lang="en-US" altLang="ja-JP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人間はフローに必要なツールの</a:t>
            </a:r>
            <a:r>
              <a:rPr lang="ja-JP" altLang="en-US" sz="2000" b="1" dirty="0"/>
              <a:t>設計</a:t>
            </a:r>
            <a:r>
              <a:rPr lang="ja-JP" altLang="en-US" sz="2000" dirty="0"/>
              <a:t>🧑‍💻をする</a:t>
            </a:r>
            <a:endParaRPr lang="en-US" altLang="ja-JP" sz="1600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E2B65AC3-E513-C4C4-D3C1-BA67D8068DC9}"/>
              </a:ext>
            </a:extLst>
          </p:cNvPr>
          <p:cNvSpPr/>
          <p:nvPr/>
        </p:nvSpPr>
        <p:spPr>
          <a:xfrm>
            <a:off x="190072" y="5883307"/>
            <a:ext cx="6114969" cy="665664"/>
          </a:xfrm>
          <a:prstGeom prst="wedgeRectCallout">
            <a:avLst>
              <a:gd name="adj1" fmla="val 27765"/>
              <a:gd name="adj2" fmla="val -104319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altLang="ja-JP" dirty="0" err="1"/>
              <a:t>Growi</a:t>
            </a:r>
            <a:r>
              <a:rPr lang="ja-JP" altLang="en-US" dirty="0"/>
              <a:t>からの取り込みや、</a:t>
            </a:r>
            <a:r>
              <a:rPr lang="en-US" altLang="ja-JP" dirty="0" err="1"/>
              <a:t>Growi</a:t>
            </a:r>
            <a:r>
              <a:rPr lang="ja-JP" altLang="en-US" dirty="0"/>
              <a:t>への反映は</a:t>
            </a:r>
            <a:br>
              <a:rPr lang="en-US" altLang="ja-JP" dirty="0"/>
            </a:br>
            <a:r>
              <a:rPr lang="ja-JP" altLang="en-US" b="1" dirty="0"/>
              <a:t>決定論的処理</a:t>
            </a:r>
            <a:r>
              <a:rPr lang="ja-JP" altLang="en-US" dirty="0"/>
              <a:t>なので、</a:t>
            </a:r>
            <a:r>
              <a:rPr lang="en-US" altLang="ja-JP" dirty="0"/>
              <a:t>AI</a:t>
            </a:r>
            <a:r>
              <a:rPr lang="ja-JP" altLang="en-US" dirty="0"/>
              <a:t>🤖ではなく</a:t>
            </a:r>
            <a:r>
              <a:rPr lang="ja-JP" altLang="en-US" b="1" dirty="0"/>
              <a:t>ツール</a:t>
            </a:r>
            <a:r>
              <a:rPr lang="ja-JP" altLang="en-US" dirty="0"/>
              <a:t>🛠️にする</a:t>
            </a:r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C5688C61-11E0-84E8-F7E1-E3017329BBC8}"/>
              </a:ext>
            </a:extLst>
          </p:cNvPr>
          <p:cNvSpPr/>
          <p:nvPr/>
        </p:nvSpPr>
        <p:spPr>
          <a:xfrm>
            <a:off x="6645188" y="5718077"/>
            <a:ext cx="3070740" cy="926286"/>
          </a:xfrm>
          <a:prstGeom prst="wedgeRectCallout">
            <a:avLst>
              <a:gd name="adj1" fmla="val -65395"/>
              <a:gd name="adj2" fmla="val 766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b="1" dirty="0"/>
              <a:t>決定性</a:t>
            </a:r>
            <a:r>
              <a:rPr lang="ja-JP" altLang="en-US" dirty="0"/>
              <a:t>が高い処理は</a:t>
            </a:r>
            <a:br>
              <a:rPr lang="en-US" altLang="ja-JP" dirty="0"/>
            </a:br>
            <a:r>
              <a:rPr lang="en-US" altLang="ja-JP" dirty="0"/>
              <a:t>AI</a:t>
            </a:r>
            <a:r>
              <a:rPr lang="ja-JP" altLang="en-US" dirty="0"/>
              <a:t>にやらせると非効率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39CDC394-D4E8-0D55-30FE-2E5EE40AB328}"/>
              </a:ext>
            </a:extLst>
          </p:cNvPr>
          <p:cNvSpPr/>
          <p:nvPr/>
        </p:nvSpPr>
        <p:spPr>
          <a:xfrm>
            <a:off x="2072680" y="4689141"/>
            <a:ext cx="5328592" cy="396044"/>
          </a:xfrm>
          <a:prstGeom prst="wedgeRectCallout">
            <a:avLst>
              <a:gd name="adj1" fmla="val -25259"/>
              <a:gd name="adj2" fmla="val -8792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ja-JP" altLang="en-US" dirty="0"/>
              <a:t>制約の中で課題を解決する仕組みを考える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sz="2600" dirty="0"/>
              <a:t>事例2　AIレビューワークフロー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300" dirty="0"/>
              <a:t>「作るための仕組みを作る</a:t>
            </a:r>
            <a:r>
              <a:rPr lang="ja-JP" altLang="en-US" dirty="0"/>
              <a:t>」</a:t>
            </a:r>
            <a:endParaRPr kumimoji="1" lang="en-US" altLang="ja-JP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BEBEC-AF90-B5CB-023A-A9CF0A81E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0ED4CDC0-E09E-F8AB-DBC0-554DEBA37A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139" y="1676206"/>
            <a:ext cx="8496300" cy="3116527"/>
          </a:xfrm>
        </p:spPr>
        <p:txBody>
          <a:bodyPr>
            <a:normAutofit lnSpcReduction="10000"/>
          </a:bodyPr>
          <a:lstStyle/>
          <a:p>
            <a:r>
              <a:rPr lang="en-US" altLang="ja-JP" b="1" dirty="0"/>
              <a:t>AI</a:t>
            </a:r>
            <a:r>
              <a:rPr lang="ja-JP" altLang="en-US" b="1" dirty="0"/>
              <a:t>が優秀になったことで陥りがちな状況</a:t>
            </a:r>
            <a:endParaRPr kumimoji="1" lang="ja-JP" altLang="en-US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が出力した実装を、</a:t>
            </a:r>
            <a:br>
              <a:rPr lang="en-US" altLang="ja-JP" sz="1600" dirty="0"/>
            </a:br>
            <a:r>
              <a:rPr lang="ja-JP" altLang="en-US" sz="1600" dirty="0"/>
              <a:t>筆者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が「動いてるから」でレビューに出してくる</a:t>
            </a:r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endParaRPr lang="en-US" altLang="ja-JP" sz="1600" dirty="0"/>
          </a:p>
          <a:p>
            <a:pPr lvl="1"/>
            <a:r>
              <a:rPr lang="en-US" altLang="ja-JP" sz="1600" dirty="0"/>
              <a:t>AI</a:t>
            </a:r>
            <a:r>
              <a:rPr lang="ja-JP" altLang="en-US" sz="1800" dirty="0"/>
              <a:t>🤖</a:t>
            </a:r>
            <a:r>
              <a:rPr lang="ja-JP" altLang="en-US" sz="1600" dirty="0"/>
              <a:t>が出した指摘を</a:t>
            </a:r>
            <a:br>
              <a:rPr lang="en-US" altLang="ja-JP" sz="1600" dirty="0"/>
            </a:br>
            <a:r>
              <a:rPr lang="ja-JP" altLang="en-US" sz="1600" dirty="0"/>
              <a:t>レビュワー</a:t>
            </a:r>
            <a:r>
              <a:rPr lang="ja-JP" altLang="en-US" sz="1800" dirty="0"/>
              <a:t>🧑‍💻</a:t>
            </a:r>
            <a:r>
              <a:rPr lang="ja-JP" altLang="en-US" sz="1600" dirty="0"/>
              <a:t>が理解もせずにたくさん指摘してくる</a:t>
            </a:r>
            <a:endParaRPr lang="en-US" altLang="ja-JP" sz="1600" dirty="0"/>
          </a:p>
          <a:p>
            <a:endParaRPr lang="en-US" altLang="ja-JP" sz="1500" b="1" dirty="0"/>
          </a:p>
          <a:p>
            <a:endParaRPr lang="en-US" altLang="ja-JP" sz="1500" b="1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08BC273-5357-6783-E7B8-42ECEF62A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AI</a:t>
            </a:r>
            <a:r>
              <a:rPr kumimoji="1" lang="ja-JP" altLang="en-US" dirty="0"/>
              <a:t>レビューアンチパターン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DD005DB7-4D6B-EF47-15A3-96224F1BC6C7}"/>
              </a:ext>
            </a:extLst>
          </p:cNvPr>
          <p:cNvSpPr/>
          <p:nvPr/>
        </p:nvSpPr>
        <p:spPr>
          <a:xfrm>
            <a:off x="4287218" y="1497352"/>
            <a:ext cx="3996444" cy="576064"/>
          </a:xfrm>
          <a:prstGeom prst="wedgeRectCallout">
            <a:avLst>
              <a:gd name="adj1" fmla="val -35884"/>
              <a:gd name="adj2" fmla="val 9964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これが良くないのは</a:t>
            </a:r>
            <a:endParaRPr lang="en-US" altLang="ja-JP" dirty="0"/>
          </a:p>
          <a:p>
            <a:pPr algn="ctr"/>
            <a:r>
              <a:rPr lang="en-US" altLang="ja-JP" dirty="0"/>
              <a:t>AI</a:t>
            </a:r>
            <a:r>
              <a:rPr lang="ja-JP" altLang="en-US" dirty="0"/>
              <a:t>が</a:t>
            </a:r>
            <a:r>
              <a:rPr lang="ja-JP" altLang="en-US" b="1" dirty="0"/>
              <a:t>間違うからではない</a:t>
            </a:r>
            <a:endParaRPr kumimoji="1" lang="ja-JP" altLang="en-US" b="1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A560663D-FB43-3686-5229-521018B76E29}"/>
              </a:ext>
            </a:extLst>
          </p:cNvPr>
          <p:cNvSpPr/>
          <p:nvPr/>
        </p:nvSpPr>
        <p:spPr>
          <a:xfrm>
            <a:off x="2848683" y="3623207"/>
            <a:ext cx="4608512" cy="412451"/>
          </a:xfrm>
          <a:prstGeom prst="wedgeRectCallout">
            <a:avLst>
              <a:gd name="adj1" fmla="val -33424"/>
              <a:gd name="adj2" fmla="val 1081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AI</a:t>
            </a:r>
            <a:r>
              <a:rPr lang="ja-JP" altLang="en-US" dirty="0"/>
              <a:t>が優秀なことによる無力感もわかるが</a:t>
            </a:r>
            <a:r>
              <a:rPr lang="en-US" altLang="ja-JP" dirty="0"/>
              <a:t>…</a:t>
            </a:r>
            <a:endParaRPr kumimoji="1" lang="ja-JP" altLang="en-US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58FEA702-B3EC-24B4-B000-3A235D6472C0}"/>
              </a:ext>
            </a:extLst>
          </p:cNvPr>
          <p:cNvSpPr/>
          <p:nvPr/>
        </p:nvSpPr>
        <p:spPr>
          <a:xfrm>
            <a:off x="922236" y="4875502"/>
            <a:ext cx="4608512" cy="657806"/>
          </a:xfrm>
          <a:prstGeom prst="wedgeRectCallout">
            <a:avLst>
              <a:gd name="adj1" fmla="val 23717"/>
              <a:gd name="adj2" fmla="val -9214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そもそも、設計とは</a:t>
            </a:r>
            <a:r>
              <a:rPr lang="ja-JP" altLang="en-US" b="1" dirty="0"/>
              <a:t>トレードオフ</a:t>
            </a:r>
            <a:r>
              <a:rPr lang="ja-JP" altLang="en-US" dirty="0"/>
              <a:t>である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AC5BAFBD-272A-4930-DC2D-7697C068A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8901" y="4360601"/>
            <a:ext cx="2471439" cy="2497399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5D7BD06-718C-927A-8481-F2B463650092}"/>
              </a:ext>
            </a:extLst>
          </p:cNvPr>
          <p:cNvSpPr/>
          <p:nvPr/>
        </p:nvSpPr>
        <p:spPr>
          <a:xfrm>
            <a:off x="922236" y="3002856"/>
            <a:ext cx="7505442" cy="406151"/>
          </a:xfrm>
          <a:prstGeom prst="wedgeRectCallout">
            <a:avLst>
              <a:gd name="adj1" fmla="val 13195"/>
              <a:gd name="adj2" fmla="val -10052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dirty="0"/>
              <a:t>Opus4.5 GPT5.4</a:t>
            </a:r>
            <a:r>
              <a:rPr lang="ja-JP" altLang="en-US" dirty="0"/>
              <a:t>以降は、</a:t>
            </a:r>
            <a:r>
              <a:rPr lang="ja-JP" altLang="en-US" b="1" dirty="0"/>
              <a:t>適切なコンテキストがあれば</a:t>
            </a:r>
            <a:r>
              <a:rPr lang="en-US" altLang="ja-JP" dirty="0"/>
              <a:t>AI</a:t>
            </a:r>
            <a:r>
              <a:rPr lang="ja-JP" altLang="en-US" dirty="0"/>
              <a:t>の方が優秀</a:t>
            </a:r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367FB952-2915-A9EE-9EB5-9DEC421F01E4}"/>
              </a:ext>
            </a:extLst>
          </p:cNvPr>
          <p:cNvSpPr/>
          <p:nvPr/>
        </p:nvSpPr>
        <p:spPr>
          <a:xfrm>
            <a:off x="2648744" y="5583459"/>
            <a:ext cx="4608512" cy="483814"/>
          </a:xfrm>
          <a:prstGeom prst="wedgeRectCallout">
            <a:avLst>
              <a:gd name="adj1" fmla="val 15981"/>
              <a:gd name="adj2" fmla="val -16690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コンテキストがある＝</a:t>
            </a:r>
            <a:r>
              <a:rPr lang="ja-JP" altLang="en-US" b="1" dirty="0"/>
              <a:t>言語化済み</a:t>
            </a:r>
            <a:endParaRPr lang="en-US" altLang="ja-JP" b="1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C9FCF677-D9AE-B5FA-5DC8-139C23D90715}"/>
              </a:ext>
            </a:extLst>
          </p:cNvPr>
          <p:cNvSpPr/>
          <p:nvPr/>
        </p:nvSpPr>
        <p:spPr>
          <a:xfrm>
            <a:off x="668524" y="6237312"/>
            <a:ext cx="6084676" cy="483814"/>
          </a:xfrm>
          <a:prstGeom prst="wedgeRectCallout">
            <a:avLst>
              <a:gd name="adj1" fmla="val 24711"/>
              <a:gd name="adj2" fmla="val -8941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言語化できていれば実行しやすいのは</a:t>
            </a:r>
            <a:r>
              <a:rPr lang="en-US" altLang="ja-JP" dirty="0"/>
              <a:t>AI</a:t>
            </a:r>
            <a:r>
              <a:rPr lang="ja-JP" altLang="en-US" dirty="0"/>
              <a:t>以前から普通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006490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14" grpId="0" animBg="1"/>
      <p:bldP spid="15" grpId="0" animBg="1"/>
      <p:bldP spid="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7D5CE-45C4-4493-B02B-14F2B07C8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766F64C8-4673-CA69-9497-CAB870961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5062898"/>
          </a:xfrm>
        </p:spPr>
        <p:txBody>
          <a:bodyPr>
            <a:normAutofit/>
          </a:bodyPr>
          <a:lstStyle/>
          <a:p>
            <a:r>
              <a:rPr lang="ja-JP" altLang="en-US" sz="1500" b="1" dirty="0"/>
              <a:t>レビューの役割とは</a:t>
            </a:r>
            <a:endParaRPr kumimoji="1" lang="ja-JP" altLang="en-US" sz="1500" b="1" dirty="0"/>
          </a:p>
          <a:p>
            <a:pPr lvl="1"/>
            <a:r>
              <a:rPr kumimoji="1" lang="ja-JP" altLang="en-US" sz="1500" dirty="0"/>
              <a:t>自動化可能な欠陥検出は前段（リンタ・自動テスト・静的解析）へ</a:t>
            </a:r>
            <a:endParaRPr kumimoji="1" lang="en-US" altLang="ja-JP" sz="1500" dirty="0"/>
          </a:p>
          <a:p>
            <a:pPr lvl="2"/>
            <a:r>
              <a:rPr lang="ja-JP" altLang="en-US" sz="1500" dirty="0"/>
              <a:t>そもそも</a:t>
            </a:r>
            <a:r>
              <a:rPr lang="ja-JP" altLang="en-US" sz="1500" b="1" dirty="0"/>
              <a:t>シフトレフトできる設計が重要</a:t>
            </a:r>
            <a:endParaRPr kumimoji="1" lang="en-US" altLang="ja-JP" sz="1500" b="1" dirty="0"/>
          </a:p>
          <a:p>
            <a:pPr lvl="1"/>
            <a:endParaRPr kumimoji="1" lang="en-US" altLang="ja-JP" sz="1500" dirty="0"/>
          </a:p>
          <a:p>
            <a:pPr lvl="1"/>
            <a:r>
              <a:rPr kumimoji="1" lang="ja-JP" altLang="en-US" sz="1500" dirty="0"/>
              <a:t>レビューは</a:t>
            </a:r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  <a:endParaRPr lang="en-US" altLang="ja-JP" sz="1600" dirty="0"/>
          </a:p>
          <a:p>
            <a:pPr lvl="2"/>
            <a:r>
              <a:rPr lang="ja-JP" altLang="en-US" sz="1600" dirty="0">
                <a:hlinkClick r:id="rId2"/>
              </a:rPr>
              <a:t>コードレビューとは何か</a:t>
            </a:r>
            <a:endParaRPr lang="ja-JP" altLang="en-US" dirty="0"/>
          </a:p>
          <a:p>
            <a:endParaRPr kumimoji="1" lang="en-US" altLang="ja-JP" sz="1500" b="1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04133B6-A5AB-3F26-2D16-637FD059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コードレビューとはなにか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3A59DE33-D126-C231-E3BF-474DCAEC23B2}"/>
              </a:ext>
            </a:extLst>
          </p:cNvPr>
          <p:cNvSpPr/>
          <p:nvPr/>
        </p:nvSpPr>
        <p:spPr>
          <a:xfrm>
            <a:off x="4625947" y="1160748"/>
            <a:ext cx="4791549" cy="418381"/>
          </a:xfrm>
          <a:prstGeom prst="wedgeRectCallout">
            <a:avLst>
              <a:gd name="adj1" fmla="val -30394"/>
              <a:gd name="adj2" fmla="val 9296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コードレビューの主目的はバグ探しではない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FA339FD4-48B1-4592-5A5B-540E56D3F7FD}"/>
              </a:ext>
            </a:extLst>
          </p:cNvPr>
          <p:cNvSpPr/>
          <p:nvPr/>
        </p:nvSpPr>
        <p:spPr>
          <a:xfrm>
            <a:off x="5171792" y="2204864"/>
            <a:ext cx="4245704" cy="418381"/>
          </a:xfrm>
          <a:prstGeom prst="wedgeRectCallout">
            <a:avLst>
              <a:gd name="adj1" fmla="val -55334"/>
              <a:gd name="adj2" fmla="val -425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レビューで見つかるのは基本遅すぎる</a:t>
            </a:r>
            <a:endParaRPr kumimoji="1"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B8CD875-903B-1BE8-4DB9-BD3DA67DC8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3884" y="3173607"/>
            <a:ext cx="5972116" cy="3665385"/>
          </a:xfrm>
          <a:prstGeom prst="rect">
            <a:avLst/>
          </a:prstGeom>
        </p:spPr>
      </p:pic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E6758EA2-9155-EB32-0494-88E39F9FEC6E}"/>
              </a:ext>
            </a:extLst>
          </p:cNvPr>
          <p:cNvSpPr/>
          <p:nvPr/>
        </p:nvSpPr>
        <p:spPr>
          <a:xfrm>
            <a:off x="235004" y="4132484"/>
            <a:ext cx="4245704" cy="599465"/>
          </a:xfrm>
          <a:prstGeom prst="wedgeRectCallout">
            <a:avLst>
              <a:gd name="adj1" fmla="val 72380"/>
              <a:gd name="adj2" fmla="val 19067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最初から「仕様」は満たしている</a:t>
            </a:r>
            <a:endParaRPr lang="en-US" altLang="ja-JP" dirty="0"/>
          </a:p>
          <a:p>
            <a:pPr algn="ctr"/>
            <a:r>
              <a:rPr kumimoji="1" lang="ja-JP" altLang="en-US" dirty="0"/>
              <a:t>≒テストが通る</a:t>
            </a:r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DF79FB3-EC7B-4B54-6599-A0CE222BF1F6}"/>
              </a:ext>
            </a:extLst>
          </p:cNvPr>
          <p:cNvSpPr/>
          <p:nvPr/>
        </p:nvSpPr>
        <p:spPr>
          <a:xfrm>
            <a:off x="235004" y="5718525"/>
            <a:ext cx="4390943" cy="821550"/>
          </a:xfrm>
          <a:prstGeom prst="wedgeRectCallout">
            <a:avLst>
              <a:gd name="adj1" fmla="val 59085"/>
              <a:gd name="adj2" fmla="val -1531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コード＝製品の実体　</a:t>
            </a:r>
            <a:r>
              <a:rPr lang="ja-JP" altLang="en-US" dirty="0"/>
              <a:t>を</a:t>
            </a:r>
            <a:endParaRPr kumimoji="1" lang="en-US" altLang="ja-JP" dirty="0"/>
          </a:p>
          <a:p>
            <a:pPr algn="ctr"/>
            <a:r>
              <a:rPr lang="ja-JP" altLang="en-US" dirty="0"/>
              <a:t>　</a:t>
            </a:r>
            <a:r>
              <a:rPr lang="ja-JP" altLang="en-US" b="1" dirty="0"/>
              <a:t>人間の頭の中に落とし込む必要</a:t>
            </a:r>
            <a:endParaRPr kumimoji="1" lang="en-US" altLang="ja-JP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40F6B41B-FB55-FAFF-31F9-761A45684DB1}"/>
              </a:ext>
            </a:extLst>
          </p:cNvPr>
          <p:cNvSpPr/>
          <p:nvPr/>
        </p:nvSpPr>
        <p:spPr>
          <a:xfrm>
            <a:off x="235004" y="4874901"/>
            <a:ext cx="4245704" cy="700672"/>
          </a:xfrm>
          <a:prstGeom prst="wedgeRectCallout">
            <a:avLst>
              <a:gd name="adj1" fmla="val 68504"/>
              <a:gd name="adj2" fmla="val 6127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自然言語で記述される「仕様」は</a:t>
            </a:r>
            <a:endParaRPr lang="en-US" altLang="ja-JP" dirty="0"/>
          </a:p>
          <a:p>
            <a:pPr algn="ctr"/>
            <a:r>
              <a:rPr lang="ja-JP" altLang="en-US" dirty="0"/>
              <a:t>漠然としがち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3EB9524-7945-93C1-1114-AF4FD47DD42C}"/>
              </a:ext>
            </a:extLst>
          </p:cNvPr>
          <p:cNvSpPr/>
          <p:nvPr/>
        </p:nvSpPr>
        <p:spPr>
          <a:xfrm>
            <a:off x="4124908" y="3140911"/>
            <a:ext cx="2952328" cy="418381"/>
          </a:xfrm>
          <a:prstGeom prst="wedgeRectCallout">
            <a:avLst>
              <a:gd name="adj1" fmla="val -62402"/>
              <a:gd name="adj2" fmla="val -1020"/>
            </a:avLst>
          </a:prstGeom>
          <a:solidFill>
            <a:srgbClr val="00B05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12" name="吹き出し: 四角形 11">
            <a:extLst>
              <a:ext uri="{FF2B5EF4-FFF2-40B4-BE49-F238E27FC236}">
                <a16:creationId xmlns:a16="http://schemas.microsoft.com/office/drawing/2014/main" id="{F5D7A409-B102-4522-11BE-6D27C88F50F5}"/>
              </a:ext>
            </a:extLst>
          </p:cNvPr>
          <p:cNvSpPr/>
          <p:nvPr/>
        </p:nvSpPr>
        <p:spPr>
          <a:xfrm>
            <a:off x="1392607" y="2387784"/>
            <a:ext cx="3341602" cy="389574"/>
          </a:xfrm>
          <a:prstGeom prst="wedgeRectCallout">
            <a:avLst>
              <a:gd name="adj1" fmla="val 30010"/>
              <a:gd name="adj2" fmla="val -6440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バグ探しの本丸は別の課題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89530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21B0-67BB-8CA5-F17A-6A79D3034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0C645ED2-2F1C-240D-8DA6-4D15F9CC9D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6DCCF91-2D1E-8786-99A1-C2A7E319E8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13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7F40D650-4BF1-6B0E-CEA5-54C9CB884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ワークフローの全体像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C9EB1BE-1358-FC10-6E7A-837BD2729383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</p:spTree>
    <p:extLst>
      <p:ext uri="{BB962C8B-B14F-4D97-AF65-F5344CB8AC3E}">
        <p14:creationId xmlns:p14="http://schemas.microsoft.com/office/powerpoint/2010/main" val="40136004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7583550A-9C68-C809-801C-80DF108611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b="15260"/>
          <a:stretch>
            <a:fillRect/>
          </a:stretch>
        </p:blipFill>
        <p:spPr>
          <a:xfrm>
            <a:off x="780948" y="1772816"/>
            <a:ext cx="7859222" cy="1800200"/>
          </a:xfrm>
          <a:prstGeom prst="rect">
            <a:avLst/>
          </a:prstGeom>
        </p:spPr>
      </p:pic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卍俺流</a:t>
            </a:r>
            <a:r>
              <a:rPr kumimoji="1" lang="ja-JP" altLang="en-US" dirty="0"/>
              <a:t>最強レビューワークフロー卍：実践</a:t>
            </a:r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C947FA0E-370B-9205-63E1-ED8D33C3FD3A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🧑‍💻</a:t>
            </a:r>
            <a:r>
              <a:rPr lang="en-US" altLang="ja-JP" dirty="0"/>
              <a:t>Copilot CLI</a:t>
            </a:r>
            <a:r>
              <a:rPr lang="ja-JP" altLang="en-US" dirty="0"/>
              <a:t>を起動（</a:t>
            </a:r>
            <a:r>
              <a:rPr lang="en-US" altLang="ja-JP" dirty="0"/>
              <a:t>Claude Code</a:t>
            </a:r>
            <a:r>
              <a:rPr lang="ja-JP" altLang="en-US" dirty="0"/>
              <a:t>でも可）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A21D1D-4EA0-A8E6-C371-22C2CE587400}"/>
              </a:ext>
            </a:extLst>
          </p:cNvPr>
          <p:cNvSpPr txBox="1"/>
          <p:nvPr/>
        </p:nvSpPr>
        <p:spPr>
          <a:xfrm>
            <a:off x="780948" y="3609020"/>
            <a:ext cx="3523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🧑‍💻</a:t>
            </a:r>
            <a:r>
              <a:rPr lang="en-US" altLang="ja-JP" dirty="0"/>
              <a:t># </a:t>
            </a:r>
            <a:r>
              <a:rPr lang="ja-JP" altLang="en-US" dirty="0"/>
              <a:t>スキル実行</a:t>
            </a:r>
            <a:r>
              <a:rPr lang="en-US" altLang="ja-JP" dirty="0"/>
              <a:t> </a:t>
            </a:r>
            <a:r>
              <a:rPr lang="en-US" altLang="ja-JP" dirty="0">
                <a:highlight>
                  <a:srgbClr val="FDD000"/>
                </a:highlight>
              </a:rPr>
              <a:t>/diff-navigator</a:t>
            </a:r>
            <a:r>
              <a:rPr lang="ja-JP" altLang="en-US" dirty="0">
                <a:highlight>
                  <a:srgbClr val="FDD000"/>
                </a:highlight>
              </a:rPr>
              <a:t>　</a:t>
            </a:r>
            <a:endParaRPr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9110DDFE-F052-36E1-EC2E-1C5FC947B1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612" y="3958543"/>
            <a:ext cx="2114845" cy="304843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B0D4EDF2-6CC2-2C3C-873F-2F01F66F6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1612" y="4248472"/>
            <a:ext cx="6782747" cy="657317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39BB90C7-0B8E-B72D-4405-4937CA141B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611" y="4991546"/>
            <a:ext cx="4014645" cy="1641810"/>
          </a:xfrm>
          <a:prstGeom prst="rect">
            <a:avLst/>
          </a:prstGeom>
        </p:spPr>
      </p:pic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EBFEAA63-3CC6-094F-99BC-6C5ADB2F1DBD}"/>
              </a:ext>
            </a:extLst>
          </p:cNvPr>
          <p:cNvSpPr/>
          <p:nvPr/>
        </p:nvSpPr>
        <p:spPr>
          <a:xfrm>
            <a:off x="791610" y="5051613"/>
            <a:ext cx="351331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0E4F2F5C-F1A4-98C8-FF94-98CA83498B78}"/>
              </a:ext>
            </a:extLst>
          </p:cNvPr>
          <p:cNvSpPr/>
          <p:nvPr/>
        </p:nvSpPr>
        <p:spPr>
          <a:xfrm>
            <a:off x="992560" y="5832648"/>
            <a:ext cx="3168352" cy="80070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9" name="図 18">
            <a:extLst>
              <a:ext uri="{FF2B5EF4-FFF2-40B4-BE49-F238E27FC236}">
                <a16:creationId xmlns:a16="http://schemas.microsoft.com/office/drawing/2014/main" id="{CAF79A00-483E-FF55-5BF7-4D90364C93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99543" y="4988148"/>
            <a:ext cx="2474816" cy="1641810"/>
          </a:xfrm>
          <a:prstGeom prst="rect">
            <a:avLst/>
          </a:prstGeom>
        </p:spPr>
      </p:pic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1A9EA265-B61D-7183-63E1-B40A07EBB25B}"/>
              </a:ext>
            </a:extLst>
          </p:cNvPr>
          <p:cNvSpPr/>
          <p:nvPr/>
        </p:nvSpPr>
        <p:spPr>
          <a:xfrm>
            <a:off x="5097016" y="5179428"/>
            <a:ext cx="1962019" cy="143020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吹き出し: 四角形 20">
            <a:extLst>
              <a:ext uri="{FF2B5EF4-FFF2-40B4-BE49-F238E27FC236}">
                <a16:creationId xmlns:a16="http://schemas.microsoft.com/office/drawing/2014/main" id="{EF42F88C-91DC-4326-856F-2B46ABD04F80}"/>
              </a:ext>
            </a:extLst>
          </p:cNvPr>
          <p:cNvSpPr/>
          <p:nvPr/>
        </p:nvSpPr>
        <p:spPr>
          <a:xfrm>
            <a:off x="4992703" y="3609020"/>
            <a:ext cx="3341602" cy="621487"/>
          </a:xfrm>
          <a:prstGeom prst="wedgeRectCallout">
            <a:avLst>
              <a:gd name="adj1" fmla="val -76162"/>
              <a:gd name="adj2" fmla="val -1409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「この差分何やってる？」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みたいな質問でも発動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9B9AB-0472-13C7-3162-EFA52FD4F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図 28">
            <a:extLst>
              <a:ext uri="{FF2B5EF4-FFF2-40B4-BE49-F238E27FC236}">
                <a16:creationId xmlns:a16="http://schemas.microsoft.com/office/drawing/2014/main" id="{F544C9BC-8F7D-EADF-7DD0-E7CE1113E4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205" y="1504203"/>
            <a:ext cx="7811590" cy="5353797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779E2B65-F25F-64BD-CC8B-C32F4D9FF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実践例：差分ナビゲーション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7BD64B9C-26BE-43B4-2E04-1CA2880C7DBA}"/>
              </a:ext>
            </a:extLst>
          </p:cNvPr>
          <p:cNvSpPr txBox="1"/>
          <p:nvPr/>
        </p:nvSpPr>
        <p:spPr>
          <a:xfrm>
            <a:off x="1008732" y="1124744"/>
            <a:ext cx="5004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↓</a:t>
            </a:r>
            <a:r>
              <a:rPr lang="ja-JP" altLang="en-US" dirty="0"/>
              <a:t>🤖仕様情報収集して</a:t>
            </a:r>
            <a:r>
              <a:rPr lang="en-US" altLang="ja-JP" dirty="0"/>
              <a:t>md</a:t>
            </a:r>
            <a:r>
              <a:rPr lang="ja-JP" altLang="en-US" dirty="0"/>
              <a:t>ファイルにまとめる</a:t>
            </a:r>
            <a:endParaRPr kumimoji="1" lang="ja-JP" altLang="en-US" dirty="0"/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8F9F313E-9018-97D8-6763-A120A61B3C5F}"/>
              </a:ext>
            </a:extLst>
          </p:cNvPr>
          <p:cNvSpPr/>
          <p:nvPr/>
        </p:nvSpPr>
        <p:spPr>
          <a:xfrm>
            <a:off x="1654090" y="1844824"/>
            <a:ext cx="1426702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B2CD927B-0266-CA56-9D06-2723811E05DB}"/>
              </a:ext>
            </a:extLst>
          </p:cNvPr>
          <p:cNvSpPr/>
          <p:nvPr/>
        </p:nvSpPr>
        <p:spPr>
          <a:xfrm>
            <a:off x="1639928" y="3281380"/>
            <a:ext cx="1440864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A108774-3DD4-69CF-5696-A8895300AFE7}"/>
              </a:ext>
            </a:extLst>
          </p:cNvPr>
          <p:cNvSpPr/>
          <p:nvPr/>
        </p:nvSpPr>
        <p:spPr>
          <a:xfrm>
            <a:off x="1630628" y="5081580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029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A8F55-8569-0E85-D54D-6359A78A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0E7B4B98-487C-4EC5-A11B-5EEA1FD67D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105" y="2419637"/>
            <a:ext cx="7716327" cy="4429743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03841935-B97C-00A2-21E7-18AD09938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実践例：差分ナビゲーション</a:t>
            </a:r>
            <a:endParaRPr kumimoji="1" lang="ja-JP" altLang="en-US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936BC6-88ED-6DCD-A668-1B2E7EB05462}"/>
              </a:ext>
            </a:extLst>
          </p:cNvPr>
          <p:cNvSpPr txBox="1"/>
          <p:nvPr/>
        </p:nvSpPr>
        <p:spPr>
          <a:xfrm>
            <a:off x="1008732" y="1124744"/>
            <a:ext cx="6161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🤖→</a:t>
            </a:r>
            <a:r>
              <a:rPr lang="en-US" altLang="ja-JP" dirty="0" err="1"/>
              <a:t>ps</a:t>
            </a:r>
            <a:r>
              <a:rPr lang="ja-JP" altLang="en-US" dirty="0"/>
              <a:t>スクリプト🛠️を実行して　差分を収集↓</a:t>
            </a:r>
            <a:endParaRPr kumimoji="1"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C80A4134-B939-B69D-D0BE-E7E3C22B3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105" y="1541309"/>
            <a:ext cx="7716327" cy="778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46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33514-B64C-49D9-87DF-9879293F6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1AD71E33-6D70-44ED-6DB2-2C90A296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実践例：差分ナビゲーション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19F9694-9662-70AE-5214-A968D31A33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16" y="1043184"/>
            <a:ext cx="8424935" cy="5616624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CB320A7-37FE-BF9A-43E1-59915911B6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6096" y="4005064"/>
            <a:ext cx="3467584" cy="2476846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57B6B0D-8798-02E3-B8E1-86A1FC1E6260}"/>
              </a:ext>
            </a:extLst>
          </p:cNvPr>
          <p:cNvSpPr/>
          <p:nvPr/>
        </p:nvSpPr>
        <p:spPr>
          <a:xfrm>
            <a:off x="7689304" y="6273316"/>
            <a:ext cx="1210678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701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65F6C-0D08-A3A1-1A8D-5D451B6B0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E1B25C55-F47C-0189-C5C1-06F24F39F8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5260"/>
          <a:stretch>
            <a:fillRect/>
          </a:stretch>
        </p:blipFill>
        <p:spPr>
          <a:xfrm>
            <a:off x="780948" y="1772816"/>
            <a:ext cx="7859222" cy="180020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03013C73-8542-C08B-4BD4-2F0FAE3D50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実践例：レビュー</a:t>
            </a:r>
            <a:endParaRPr kumimoji="1" lang="ja-JP" altLang="en-US" dirty="0"/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51E5A694-EABA-8BA5-A330-FD7E57B58FA2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Copilot CLI</a:t>
            </a:r>
            <a:r>
              <a:rPr lang="ja-JP" altLang="en-US" dirty="0"/>
              <a:t>を起動（</a:t>
            </a:r>
            <a:r>
              <a:rPr lang="en-US" altLang="ja-JP" dirty="0"/>
              <a:t>Claude Code</a:t>
            </a:r>
            <a:r>
              <a:rPr lang="ja-JP" altLang="en-US" dirty="0"/>
              <a:t>でも可）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861C9D-FD75-5F5C-28CA-F6C316656AB7}"/>
              </a:ext>
            </a:extLst>
          </p:cNvPr>
          <p:cNvSpPr txBox="1"/>
          <p:nvPr/>
        </p:nvSpPr>
        <p:spPr>
          <a:xfrm>
            <a:off x="780948" y="3813855"/>
            <a:ext cx="777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# </a:t>
            </a:r>
            <a:r>
              <a:rPr lang="ja-JP" altLang="en-US" dirty="0"/>
              <a:t>スキル実行</a:t>
            </a:r>
            <a:r>
              <a:rPr lang="en-US" altLang="ja-JP" dirty="0"/>
              <a:t> </a:t>
            </a:r>
            <a:r>
              <a:rPr lang="en-US" altLang="ja-JP" dirty="0">
                <a:highlight>
                  <a:srgbClr val="FDD000"/>
                </a:highlight>
              </a:rPr>
              <a:t>/peer-review</a:t>
            </a:r>
            <a:r>
              <a:rPr lang="ja-JP" altLang="en-US" dirty="0"/>
              <a:t>　→　エージェント🤖がレビューを開始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9769D21-4FF7-04DB-C610-13F7A8EB26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44" y="4242814"/>
            <a:ext cx="6468871" cy="1754081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59AB3B9-63A5-4741-2DAD-464542BCCD99}"/>
              </a:ext>
            </a:extLst>
          </p:cNvPr>
          <p:cNvSpPr/>
          <p:nvPr/>
        </p:nvSpPr>
        <p:spPr>
          <a:xfrm>
            <a:off x="3584848" y="6107058"/>
            <a:ext cx="5897886" cy="621487"/>
          </a:xfrm>
          <a:prstGeom prst="wedgeRectCallout">
            <a:avLst>
              <a:gd name="adj1" fmla="val -33260"/>
              <a:gd name="adj2" fmla="val -130326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別セッションで開始した場合も、</a:t>
            </a:r>
            <a:endParaRPr kumimoji="1" lang="en-US" altLang="ja-JP" dirty="0"/>
          </a:p>
          <a:p>
            <a:pPr algn="ctr"/>
            <a:r>
              <a:rPr lang="ja-JP" altLang="en-US" dirty="0"/>
              <a:t>ワークスペースのコンテキストを拾って再開可能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36360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2CC36-B5DD-F011-68D3-CB8E5920B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AD42ECD8-6FAC-73F7-A86D-2EBAC57A4D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5260"/>
          <a:stretch>
            <a:fillRect/>
          </a:stretch>
        </p:blipFill>
        <p:spPr>
          <a:xfrm>
            <a:off x="780948" y="1772816"/>
            <a:ext cx="7859222" cy="1800200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4F4532FB-C405-AE80-39D5-9F4B1E6C6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実践例：レビュー</a:t>
            </a:r>
            <a:endParaRPr kumimoji="1" lang="ja-JP" altLang="en-US" dirty="0"/>
          </a:p>
        </p:txBody>
      </p:sp>
      <p:sp>
        <p:nvSpPr>
          <p:cNvPr id="6" name="コンテンツ プレースホルダー 3">
            <a:extLst>
              <a:ext uri="{FF2B5EF4-FFF2-40B4-BE49-F238E27FC236}">
                <a16:creationId xmlns:a16="http://schemas.microsoft.com/office/drawing/2014/main" id="{3CA2372B-7033-F8AB-EADE-CDDF44D39880}"/>
              </a:ext>
            </a:extLst>
          </p:cNvPr>
          <p:cNvSpPr txBox="1">
            <a:spLocks/>
          </p:cNvSpPr>
          <p:nvPr/>
        </p:nvSpPr>
        <p:spPr>
          <a:xfrm>
            <a:off x="704850" y="1282427"/>
            <a:ext cx="8496300" cy="4894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514346" rtl="0" eaLnBrk="1" latinLnBrk="0" hangingPunct="1">
              <a:lnSpc>
                <a:spcPct val="140000"/>
              </a:lnSpc>
              <a:spcBef>
                <a:spcPts val="563"/>
              </a:spcBef>
              <a:buFontTx/>
              <a:buNone/>
              <a:defRPr kumimoji="1" sz="1600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385760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2pPr>
            <a:lvl3pPr marL="642932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3pPr>
            <a:lvl4pPr marL="900105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4pPr>
            <a:lvl5pPr marL="1157279" indent="-128587" algn="l" defTabSz="514346" rtl="0" eaLnBrk="1" latinLnBrk="0" hangingPunct="1">
              <a:lnSpc>
                <a:spcPct val="14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108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5pPr>
            <a:lvl6pPr marL="1414451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671625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928797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85969" indent="-128587" algn="l" defTabSz="514346" rtl="0" eaLnBrk="1" latinLnBrk="0" hangingPunct="1">
              <a:lnSpc>
                <a:spcPct val="90000"/>
              </a:lnSpc>
              <a:spcBef>
                <a:spcPts val="281"/>
              </a:spcBef>
              <a:buFont typeface="Arial" panose="020B0604020202020204" pitchFamily="34" charset="0"/>
              <a:buChar char="•"/>
              <a:defRPr kumimoji="1" sz="101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Copilot CLI</a:t>
            </a:r>
            <a:r>
              <a:rPr lang="ja-JP" altLang="en-US" dirty="0"/>
              <a:t>を起動（</a:t>
            </a:r>
            <a:r>
              <a:rPr lang="en-US" altLang="ja-JP" dirty="0"/>
              <a:t>Claude Code</a:t>
            </a:r>
            <a:r>
              <a:rPr lang="ja-JP" altLang="en-US" dirty="0"/>
              <a:t>でも可）</a:t>
            </a:r>
            <a:endParaRPr lang="en-US" altLang="ja-JP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6C589CC-1E13-8B88-C364-2B171A407EC4}"/>
              </a:ext>
            </a:extLst>
          </p:cNvPr>
          <p:cNvSpPr txBox="1"/>
          <p:nvPr/>
        </p:nvSpPr>
        <p:spPr>
          <a:xfrm>
            <a:off x="780948" y="3813855"/>
            <a:ext cx="777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# </a:t>
            </a:r>
            <a:r>
              <a:rPr lang="ja-JP" altLang="en-US" dirty="0"/>
              <a:t>スキル実行</a:t>
            </a:r>
            <a:r>
              <a:rPr lang="en-US" altLang="ja-JP" dirty="0"/>
              <a:t> </a:t>
            </a:r>
            <a:r>
              <a:rPr lang="en-US" altLang="ja-JP" dirty="0">
                <a:highlight>
                  <a:srgbClr val="FDD000"/>
                </a:highlight>
              </a:rPr>
              <a:t>/peer-review</a:t>
            </a:r>
            <a:r>
              <a:rPr lang="ja-JP" altLang="en-US" dirty="0"/>
              <a:t>　→　エージェント🤖がレビューを開始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E4AD566-A38B-91D7-66C7-BD1A06EB5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44" y="4242814"/>
            <a:ext cx="6468871" cy="1754081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DA093BB5-0DE3-39BC-E7CE-1396F7E68112}"/>
              </a:ext>
            </a:extLst>
          </p:cNvPr>
          <p:cNvSpPr/>
          <p:nvPr/>
        </p:nvSpPr>
        <p:spPr>
          <a:xfrm>
            <a:off x="3584848" y="6107058"/>
            <a:ext cx="5897886" cy="621487"/>
          </a:xfrm>
          <a:prstGeom prst="wedgeRectCallout">
            <a:avLst>
              <a:gd name="adj1" fmla="val -33260"/>
              <a:gd name="adj2" fmla="val -130326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別セッションで開始した場合も、</a:t>
            </a:r>
            <a:endParaRPr kumimoji="1" lang="en-US" altLang="ja-JP" dirty="0"/>
          </a:p>
          <a:p>
            <a:pPr algn="ctr"/>
            <a:r>
              <a:rPr lang="ja-JP" altLang="en-US" dirty="0"/>
              <a:t>ワークスペースのコンテキストを拾って再開可能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128276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D75D9-EBEB-560B-FAE7-CADD8AD2D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072EC45F-B88C-0EC8-178B-E6FFA08F8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実践例：レビュー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56246AA7-72F8-ED4D-538F-26B71FE73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00" y="1420267"/>
            <a:ext cx="7373028" cy="6858000"/>
          </a:xfrm>
          <a:prstGeom prst="rect">
            <a:avLst/>
          </a:prstGeom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04881C8-63C3-B115-2625-73580EA81135}"/>
              </a:ext>
            </a:extLst>
          </p:cNvPr>
          <p:cNvSpPr txBox="1"/>
          <p:nvPr/>
        </p:nvSpPr>
        <p:spPr>
          <a:xfrm>
            <a:off x="734160" y="1042943"/>
            <a:ext cx="7772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🤖</a:t>
            </a:r>
            <a:r>
              <a:rPr lang="en-US" altLang="ja-JP" dirty="0"/>
              <a:t>PR</a:t>
            </a:r>
            <a:r>
              <a:rPr lang="ja-JP" altLang="en-US" dirty="0"/>
              <a:t>からセルフレビューの記録を収集してくる　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9C34C824-09EF-ECE3-4993-7D6231304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2478" y="4509120"/>
            <a:ext cx="3219899" cy="2076740"/>
          </a:xfrm>
          <a:prstGeom prst="rect">
            <a:avLst/>
          </a:prstGeom>
        </p:spPr>
      </p:pic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68B9A6DC-BBDF-F2E5-B20F-E2C90B01FDAC}"/>
              </a:ext>
            </a:extLst>
          </p:cNvPr>
          <p:cNvSpPr/>
          <p:nvPr/>
        </p:nvSpPr>
        <p:spPr>
          <a:xfrm>
            <a:off x="6672324" y="6330228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775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92313-2199-3256-6868-FD3937CE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D857E78C-84F1-804D-311B-36599D4BA3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6346"/>
            <a:ext cx="9906000" cy="4445307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FF4B79FC-A308-6299-10F8-69FC0631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実践例：レビュー</a:t>
            </a:r>
            <a:endParaRPr kumimoji="1" lang="ja-JP" altLang="en-US" dirty="0"/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12DBB3B6-B920-AEA2-BC94-8FE98297F719}"/>
              </a:ext>
            </a:extLst>
          </p:cNvPr>
          <p:cNvSpPr/>
          <p:nvPr/>
        </p:nvSpPr>
        <p:spPr>
          <a:xfrm>
            <a:off x="675808" y="5745808"/>
            <a:ext cx="5041636" cy="369332"/>
          </a:xfrm>
          <a:prstGeom prst="wedgeRectCallout">
            <a:avLst>
              <a:gd name="adj1" fmla="val -22597"/>
              <a:gd name="adj2" fmla="val -977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既に意思決定済みの内容は再指摘しない</a:t>
            </a:r>
            <a:endParaRPr kumimoji="1" lang="en-US" altLang="ja-JP" dirty="0"/>
          </a:p>
        </p:txBody>
      </p:sp>
      <p:sp>
        <p:nvSpPr>
          <p:cNvPr id="15" name="吹き出し: 四角形 14">
            <a:extLst>
              <a:ext uri="{FF2B5EF4-FFF2-40B4-BE49-F238E27FC236}">
                <a16:creationId xmlns:a16="http://schemas.microsoft.com/office/drawing/2014/main" id="{AA757CE3-9434-0EED-2152-DC6E02FCADBC}"/>
              </a:ext>
            </a:extLst>
          </p:cNvPr>
          <p:cNvSpPr/>
          <p:nvPr/>
        </p:nvSpPr>
        <p:spPr>
          <a:xfrm>
            <a:off x="4844988" y="6165304"/>
            <a:ext cx="4536504" cy="369332"/>
          </a:xfrm>
          <a:prstGeom prst="wedgeRectCallout">
            <a:avLst>
              <a:gd name="adj1" fmla="val -26220"/>
              <a:gd name="adj2" fmla="val -152213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レビュワー🧑‍💻意思決定の内容を確認する</a:t>
            </a:r>
            <a:endParaRPr kumimoji="1" lang="en-US" altLang="ja-JP" dirty="0"/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2C8AF80A-C5A7-C64E-1A03-63E87767B928}"/>
              </a:ext>
            </a:extLst>
          </p:cNvPr>
          <p:cNvSpPr/>
          <p:nvPr/>
        </p:nvSpPr>
        <p:spPr>
          <a:xfrm>
            <a:off x="4196916" y="1761699"/>
            <a:ext cx="3677798" cy="1084584"/>
          </a:xfrm>
          <a:prstGeom prst="wedgeRectCallout">
            <a:avLst>
              <a:gd name="adj1" fmla="val -97819"/>
              <a:gd name="adj2" fmla="val -2246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筆者🧑‍💻は</a:t>
            </a:r>
            <a:r>
              <a:rPr lang="en-US" altLang="ja-JP" dirty="0"/>
              <a:t>AI</a:t>
            </a:r>
            <a:r>
              <a:rPr lang="ja-JP" altLang="en-US" dirty="0"/>
              <a:t>に指摘された内容を</a:t>
            </a:r>
            <a:br>
              <a:rPr lang="en-US" altLang="ja-JP" dirty="0"/>
            </a:br>
            <a:r>
              <a:rPr lang="ja-JP" altLang="en-US" dirty="0"/>
              <a:t>どう判断✅💬🚫したか</a:t>
            </a:r>
          </a:p>
          <a:p>
            <a:pPr algn="ctr"/>
            <a:r>
              <a:rPr lang="en-US" altLang="ja-JP" dirty="0"/>
              <a:t>PR</a:t>
            </a:r>
            <a:r>
              <a:rPr lang="ja-JP" altLang="en-US" dirty="0"/>
              <a:t>に残すようにしている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01447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11E11-4560-97F3-BF44-816A2A553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28CC07D9-7972-AD22-9BC4-5C302257E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36FBEC6-67CA-AB02-022D-F4630DE8B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メインエージェント🤖は</a:t>
            </a:r>
            <a:endParaRPr lang="en-US" altLang="ja-JP" dirty="0"/>
          </a:p>
          <a:p>
            <a:r>
              <a:rPr lang="ja-JP" altLang="en-US" dirty="0"/>
              <a:t>レビュー用</a:t>
            </a:r>
            <a:r>
              <a:rPr lang="ja-JP" altLang="en-US" b="1" dirty="0"/>
              <a:t>サブ</a:t>
            </a:r>
            <a:r>
              <a:rPr lang="ja-JP" altLang="en-US" dirty="0"/>
              <a:t>エージェント🤖🤖🤖🤖🤖🤖を起動する</a:t>
            </a:r>
            <a:endParaRPr lang="en-US" altLang="ja-JP" dirty="0"/>
          </a:p>
          <a:p>
            <a:r>
              <a:rPr lang="ja-JP" altLang="en-US" dirty="0"/>
              <a:t>（仕様コンテキスト・差分・セルフレビュー結果をファイル参照させる）</a:t>
            </a:r>
          </a:p>
        </p:txBody>
      </p:sp>
      <p:pic>
        <p:nvPicPr>
          <p:cNvPr id="9" name="コンテンツ プレースホルダー 8">
            <a:extLst>
              <a:ext uri="{FF2B5EF4-FFF2-40B4-BE49-F238E27FC236}">
                <a16:creationId xmlns:a16="http://schemas.microsoft.com/office/drawing/2014/main" id="{DE197A31-DBCD-DE67-7477-1E28B9400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600908"/>
            <a:ext cx="8496300" cy="308545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E0A95B-8A58-B976-A2CA-7EEDDD9B5E95}"/>
              </a:ext>
            </a:extLst>
          </p:cNvPr>
          <p:cNvSpPr txBox="1"/>
          <p:nvPr/>
        </p:nvSpPr>
        <p:spPr>
          <a:xfrm>
            <a:off x="2504728" y="5868267"/>
            <a:ext cx="62713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🤖レビュー観点毎に専門エージェントを定義している↑</a:t>
            </a:r>
            <a:endParaRPr kumimoji="1"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7B36E846-A20B-5D89-7461-95B1DF770473}"/>
              </a:ext>
            </a:extLst>
          </p:cNvPr>
          <p:cNvSpPr/>
          <p:nvPr/>
        </p:nvSpPr>
        <p:spPr>
          <a:xfrm>
            <a:off x="956556" y="28853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45567534-A3CD-0EB3-7BC1-8C4AE3442E62}"/>
              </a:ext>
            </a:extLst>
          </p:cNvPr>
          <p:cNvSpPr/>
          <p:nvPr/>
        </p:nvSpPr>
        <p:spPr>
          <a:xfrm>
            <a:off x="970128" y="3310841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AB2E0D9-8077-9057-A1D4-CD3984948BB9}"/>
              </a:ext>
            </a:extLst>
          </p:cNvPr>
          <p:cNvSpPr/>
          <p:nvPr/>
        </p:nvSpPr>
        <p:spPr>
          <a:xfrm>
            <a:off x="956556" y="3785436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BE1B3BB4-A6B2-017D-8225-4D1DE6053391}"/>
              </a:ext>
            </a:extLst>
          </p:cNvPr>
          <p:cNvSpPr/>
          <p:nvPr/>
        </p:nvSpPr>
        <p:spPr>
          <a:xfrm>
            <a:off x="956556" y="42570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795918F-7795-032A-266E-43568F901604}"/>
              </a:ext>
            </a:extLst>
          </p:cNvPr>
          <p:cNvSpPr/>
          <p:nvPr/>
        </p:nvSpPr>
        <p:spPr>
          <a:xfrm>
            <a:off x="956556" y="4728748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644AC9A-AA87-B401-6DEC-69D9B5C79BBB}"/>
              </a:ext>
            </a:extLst>
          </p:cNvPr>
          <p:cNvSpPr/>
          <p:nvPr/>
        </p:nvSpPr>
        <p:spPr>
          <a:xfrm>
            <a:off x="956556" y="5189592"/>
            <a:ext cx="2484276" cy="255632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82A717D-E28F-670F-0C9D-039BB1D6A89F}"/>
              </a:ext>
            </a:extLst>
          </p:cNvPr>
          <p:cNvSpPr txBox="1"/>
          <p:nvPr/>
        </p:nvSpPr>
        <p:spPr>
          <a:xfrm>
            <a:off x="812540" y="6243271"/>
            <a:ext cx="73275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400" dirty="0"/>
              <a:t>今回は６エージェントだが、毎回全部見なくてもいいようにいくつかのパターンを用意</a:t>
            </a:r>
            <a:endParaRPr kumimoji="1" lang="ja-JP" altLang="en-US" sz="1400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F24EBED5-A407-D0E7-3B07-3FEAD98D3F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0694" y="3729695"/>
            <a:ext cx="3010320" cy="2143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030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animBg="1"/>
      <p:bldP spid="6" grpId="0" animBg="1"/>
      <p:bldP spid="7" grpId="0" animBg="1"/>
      <p:bldP spid="10" grpId="0" animBg="1"/>
      <p:bldP spid="11" grpId="0" animBg="1"/>
      <p:bldP spid="12" grpId="0" animBg="1"/>
      <p:bldP spid="1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58C83-8ACF-ACD5-E69D-DA10EA815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1E65858-92A0-5C8B-4863-959ADC6EF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80" y="1425891"/>
            <a:ext cx="9078592" cy="2210108"/>
          </a:xfrm>
          <a:prstGeom prst="rect">
            <a:avLst/>
          </a:prstGeom>
        </p:spPr>
      </p:pic>
      <p:sp>
        <p:nvSpPr>
          <p:cNvPr id="3" name="タイトル 2">
            <a:extLst>
              <a:ext uri="{FF2B5EF4-FFF2-40B4-BE49-F238E27FC236}">
                <a16:creationId xmlns:a16="http://schemas.microsoft.com/office/drawing/2014/main" id="{6E8E7C4A-D68B-D943-8C8C-48BDF8FB3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91131622-0427-BCB0-527F-9BFD6303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60" y="4742019"/>
            <a:ext cx="3124636" cy="1667108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235E428-17E5-5855-C440-8C862904EDCF}"/>
              </a:ext>
            </a:extLst>
          </p:cNvPr>
          <p:cNvSpPr txBox="1"/>
          <p:nvPr/>
        </p:nvSpPr>
        <p:spPr>
          <a:xfrm>
            <a:off x="344488" y="999505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↓🤖</a:t>
            </a:r>
            <a:r>
              <a:rPr lang="ja-JP" altLang="en-US" b="1" dirty="0"/>
              <a:t>サブ</a:t>
            </a:r>
            <a:r>
              <a:rPr lang="ja-JP" altLang="en-US" dirty="0"/>
              <a:t>サブエージェントは</a:t>
            </a:r>
            <a:r>
              <a:rPr lang="en-US" altLang="ja-JP" dirty="0"/>
              <a:t>Json</a:t>
            </a:r>
            <a:r>
              <a:rPr lang="ja-JP" altLang="en-US" dirty="0"/>
              <a:t>でレビュー結果を返す</a:t>
            </a:r>
            <a:endParaRPr kumimoji="1" lang="ja-JP" altLang="en-US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9D31438-5531-5207-CF07-DCD8E5234398}"/>
              </a:ext>
            </a:extLst>
          </p:cNvPr>
          <p:cNvSpPr txBox="1"/>
          <p:nvPr/>
        </p:nvSpPr>
        <p:spPr>
          <a:xfrm>
            <a:off x="3561820" y="4836909"/>
            <a:ext cx="6012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←🤖メインエージェントは</a:t>
            </a:r>
            <a:r>
              <a:rPr lang="en-US" altLang="ja-JP" dirty="0"/>
              <a:t>Json</a:t>
            </a:r>
            <a:r>
              <a:rPr lang="ja-JP" altLang="en-US" dirty="0"/>
              <a:t>を読み取って集計する</a:t>
            </a:r>
            <a:endParaRPr lang="en-US" altLang="ja-JP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24B2A42D-826F-7CD5-DB9C-7D72E3BA3DAD}"/>
              </a:ext>
            </a:extLst>
          </p:cNvPr>
          <p:cNvSpPr txBox="1"/>
          <p:nvPr/>
        </p:nvSpPr>
        <p:spPr>
          <a:xfrm>
            <a:off x="3875668" y="5206241"/>
            <a:ext cx="56984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集計観点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指摘の重複を整理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組み合わせによる深刻度が上昇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対立する指摘 </a:t>
            </a:r>
            <a:r>
              <a:rPr lang="en-US" altLang="ja-JP" dirty="0"/>
              <a:t>ex) easy vs simple</a:t>
            </a:r>
            <a:r>
              <a:rPr lang="ja-JP" altLang="en-US" dirty="0"/>
              <a:t>のトレードオフ</a:t>
            </a:r>
            <a:endParaRPr lang="en-US" altLang="ja-JP" dirty="0"/>
          </a:p>
          <a:p>
            <a:r>
              <a:rPr lang="ja-JP" altLang="en-US" dirty="0"/>
              <a:t>次のステップで人間に質問する</a:t>
            </a:r>
            <a:endParaRPr lang="en-US" altLang="ja-JP" dirty="0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542D6317-A3EF-F160-2316-519DCFC0BE40}"/>
              </a:ext>
            </a:extLst>
          </p:cNvPr>
          <p:cNvSpPr/>
          <p:nvPr/>
        </p:nvSpPr>
        <p:spPr>
          <a:xfrm>
            <a:off x="596516" y="1916832"/>
            <a:ext cx="1584176" cy="182627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2A0E9AAE-83BF-2354-D6A7-7D70F8FD6EC6}"/>
              </a:ext>
            </a:extLst>
          </p:cNvPr>
          <p:cNvSpPr/>
          <p:nvPr/>
        </p:nvSpPr>
        <p:spPr>
          <a:xfrm>
            <a:off x="429960" y="3822867"/>
            <a:ext cx="7907416" cy="369332"/>
          </a:xfrm>
          <a:prstGeom prst="wedgeRectCallout">
            <a:avLst>
              <a:gd name="adj1" fmla="val -22597"/>
              <a:gd name="adj2" fmla="val -977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en-US" altLang="ja-JP" dirty="0"/>
              <a:t>easy</a:t>
            </a:r>
            <a:r>
              <a:rPr kumimoji="1" lang="ja-JP" altLang="en-US" dirty="0"/>
              <a:t>エージェントは</a:t>
            </a:r>
            <a:r>
              <a:rPr lang="ja-JP" altLang="en-US" dirty="0"/>
              <a:t>既存コード一貫性など</a:t>
            </a:r>
            <a:r>
              <a:rPr kumimoji="1" lang="ja-JP" altLang="en-US" dirty="0"/>
              <a:t>理解しやすいことに責任</a:t>
            </a:r>
            <a:endParaRPr kumimoji="1" lang="en-US" altLang="ja-JP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45344411-B68D-0C57-4EDE-439C0C464EE2}"/>
              </a:ext>
            </a:extLst>
          </p:cNvPr>
          <p:cNvSpPr/>
          <p:nvPr/>
        </p:nvSpPr>
        <p:spPr>
          <a:xfrm>
            <a:off x="2108684" y="4297265"/>
            <a:ext cx="7524836" cy="369332"/>
          </a:xfrm>
          <a:prstGeom prst="wedgeRectCallout">
            <a:avLst>
              <a:gd name="adj1" fmla="val -22597"/>
              <a:gd name="adj2" fmla="val -9774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客観的なベストプラクティスは</a:t>
            </a:r>
            <a:r>
              <a:rPr lang="ja-JP" altLang="en-US" dirty="0"/>
              <a:t>🤖</a:t>
            </a:r>
            <a:r>
              <a:rPr lang="en-US" altLang="ja-JP" dirty="0"/>
              <a:t>simple</a:t>
            </a:r>
            <a:r>
              <a:rPr lang="ja-JP" altLang="en-US" dirty="0"/>
              <a:t>エージェントが担当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7201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7" grpId="0" animBg="1"/>
      <p:bldP spid="8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E2065-E07B-2A97-AAC8-0A2110657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C86AAD0B-5ACC-C5E3-45DC-F758D59BA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93A06A-707F-FDD2-1204-4BB45DFC475D}"/>
              </a:ext>
            </a:extLst>
          </p:cNvPr>
          <p:cNvSpPr txBox="1"/>
          <p:nvPr/>
        </p:nvSpPr>
        <p:spPr>
          <a:xfrm>
            <a:off x="344488" y="1047827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🤖指摘の概要を説明し、</a:t>
            </a:r>
            <a:r>
              <a:rPr lang="en-US" altLang="ja-JP" dirty="0"/>
              <a:t>PR</a:t>
            </a:r>
            <a:r>
              <a:rPr lang="ja-JP" altLang="en-US" dirty="0"/>
              <a:t>にコメントするかを人間に聞く</a:t>
            </a:r>
            <a:endParaRPr lang="en-US" altLang="ja-JP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0DBF305-8AF0-3EF6-3F5C-00AE6EC9B505}"/>
              </a:ext>
            </a:extLst>
          </p:cNvPr>
          <p:cNvSpPr txBox="1"/>
          <p:nvPr/>
        </p:nvSpPr>
        <p:spPr>
          <a:xfrm>
            <a:off x="390715" y="4111987"/>
            <a:ext cx="6825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↑人間が判断して回答🙆🙅</a:t>
            </a:r>
            <a:endParaRPr lang="en-US" altLang="ja-JP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CCECC5C-8834-8C34-7A0C-ADC30B6C2945}"/>
              </a:ext>
            </a:extLst>
          </p:cNvPr>
          <p:cNvSpPr txBox="1"/>
          <p:nvPr/>
        </p:nvSpPr>
        <p:spPr>
          <a:xfrm>
            <a:off x="390715" y="5931331"/>
            <a:ext cx="8037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🤖この時点ではまだ指摘は</a:t>
            </a:r>
            <a:r>
              <a:rPr lang="en-US" altLang="ja-JP" dirty="0"/>
              <a:t>PR</a:t>
            </a:r>
            <a:r>
              <a:rPr lang="ja-JP" altLang="en-US" dirty="0"/>
              <a:t>に反映しない（人間の判断を待つ）</a:t>
            </a:r>
            <a:endParaRPr lang="en-US" altLang="ja-JP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20DD1DE-5067-DDDD-FD7F-82E3CB7A1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72" y="1534622"/>
            <a:ext cx="9494298" cy="2508656"/>
          </a:xfrm>
          <a:prstGeom prst="rect">
            <a:avLst/>
          </a:prstGeom>
        </p:spPr>
      </p:pic>
      <p:pic>
        <p:nvPicPr>
          <p:cNvPr id="13" name="コンテンツ プレースホルダー 12">
            <a:extLst>
              <a:ext uri="{FF2B5EF4-FFF2-40B4-BE49-F238E27FC236}">
                <a16:creationId xmlns:a16="http://schemas.microsoft.com/office/drawing/2014/main" id="{2796CE09-1B7F-2615-5A1F-60E92340B1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29960" y="4559540"/>
            <a:ext cx="8259328" cy="13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941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B5BA-44D4-88CF-8FFD-A2104C74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3993B315-C25D-991D-BD8C-C70FD51EB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2084D0-DFDD-249C-BB00-2ACE4C91D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472" y="981732"/>
            <a:ext cx="8496300" cy="4894536"/>
          </a:xfrm>
        </p:spPr>
        <p:txBody>
          <a:bodyPr/>
          <a:lstStyle/>
          <a:p>
            <a:endParaRPr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77CBE43-D993-EB8D-2F83-8FCA64B71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674" y="981732"/>
            <a:ext cx="6130326" cy="5728110"/>
          </a:xfrm>
          <a:prstGeom prst="rect">
            <a:avLst/>
          </a:prstGeom>
        </p:spPr>
      </p:pic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D0292D10-1AEA-6C6F-3AB7-BD860FB1A95A}"/>
              </a:ext>
            </a:extLst>
          </p:cNvPr>
          <p:cNvSpPr/>
          <p:nvPr/>
        </p:nvSpPr>
        <p:spPr>
          <a:xfrm>
            <a:off x="428088" y="3140968"/>
            <a:ext cx="2839798" cy="864096"/>
          </a:xfrm>
          <a:prstGeom prst="wedgeRectCallout">
            <a:avLst>
              <a:gd name="adj1" fmla="val 68170"/>
              <a:gd name="adj2" fmla="val -522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dirty="0"/>
              <a:t>レビュー成果は</a:t>
            </a:r>
            <a:endParaRPr lang="en-US" altLang="ja-JP" dirty="0"/>
          </a:p>
          <a:p>
            <a:r>
              <a:rPr lang="en-US" altLang="ja-JP" dirty="0"/>
              <a:t>md</a:t>
            </a:r>
            <a:r>
              <a:rPr lang="ja-JP" altLang="en-US" dirty="0"/>
              <a:t>ファイルとして残る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15AF4743-96FF-08BF-71B3-EBA3BDD9170C}"/>
              </a:ext>
            </a:extLst>
          </p:cNvPr>
          <p:cNvSpPr/>
          <p:nvPr/>
        </p:nvSpPr>
        <p:spPr>
          <a:xfrm>
            <a:off x="428088" y="4129874"/>
            <a:ext cx="2839798" cy="864096"/>
          </a:xfrm>
          <a:prstGeom prst="wedgeRectCallout">
            <a:avLst>
              <a:gd name="adj1" fmla="val 68170"/>
              <a:gd name="adj2" fmla="val -522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dirty="0"/>
              <a:t>溜まってきたら、</a:t>
            </a:r>
            <a:endParaRPr lang="en-US" altLang="ja-JP" dirty="0"/>
          </a:p>
          <a:p>
            <a:r>
              <a:rPr lang="ja-JP" altLang="en-US" dirty="0"/>
              <a:t>良く指摘される内容を</a:t>
            </a:r>
            <a:endParaRPr lang="en-US" altLang="ja-JP" dirty="0"/>
          </a:p>
          <a:p>
            <a:r>
              <a:rPr lang="ja-JP" altLang="en-US" dirty="0"/>
              <a:t>エージェントに追加</a:t>
            </a:r>
          </a:p>
        </p:txBody>
      </p:sp>
    </p:spTree>
    <p:extLst>
      <p:ext uri="{BB962C8B-B14F-4D97-AF65-F5344CB8AC3E}">
        <p14:creationId xmlns:p14="http://schemas.microsoft.com/office/powerpoint/2010/main" val="1699559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48B7D-E68F-4F7E-87B1-2677656D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タイトル 2">
            <a:extLst>
              <a:ext uri="{FF2B5EF4-FFF2-40B4-BE49-F238E27FC236}">
                <a16:creationId xmlns:a16="http://schemas.microsoft.com/office/drawing/2014/main" id="{AA0146F0-8E3C-2363-8898-8CBB80406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実践例</a:t>
            </a:r>
            <a:r>
              <a:rPr lang="ja-JP" altLang="en-US" dirty="0"/>
              <a:t>：レビュー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7E9608-1C20-0FA2-D56D-F6A63501E2D4}"/>
              </a:ext>
            </a:extLst>
          </p:cNvPr>
          <p:cNvSpPr txBox="1"/>
          <p:nvPr/>
        </p:nvSpPr>
        <p:spPr>
          <a:xfrm>
            <a:off x="563062" y="5049180"/>
            <a:ext cx="234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🤖</a:t>
            </a:r>
            <a:r>
              <a:rPr lang="en-US" altLang="ja-JP" b="1" dirty="0"/>
              <a:t>Pending</a:t>
            </a:r>
            <a:r>
              <a:rPr lang="ja-JP" altLang="en-US" dirty="0"/>
              <a:t>状態で</a:t>
            </a:r>
            <a:r>
              <a:rPr lang="en-US" altLang="ja-JP" dirty="0"/>
              <a:t>PR</a:t>
            </a:r>
            <a:r>
              <a:rPr lang="ja-JP" altLang="en-US" dirty="0"/>
              <a:t>に反映</a:t>
            </a:r>
            <a:endParaRPr lang="en-US" altLang="ja-JP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C5ECA42-B7B5-AB00-21FA-15417B8674E4}"/>
              </a:ext>
            </a:extLst>
          </p:cNvPr>
          <p:cNvSpPr txBox="1"/>
          <p:nvPr/>
        </p:nvSpPr>
        <p:spPr>
          <a:xfrm>
            <a:off x="563062" y="5709150"/>
            <a:ext cx="22187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/>
              <a:t>🧑‍💻書きぶりを確認して、</a:t>
            </a:r>
            <a:r>
              <a:rPr lang="en-US" altLang="ja-JP" dirty="0"/>
              <a:t>Submit</a:t>
            </a:r>
            <a:endParaRPr lang="ja-JP" altLang="en-US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8EF5D39F-3D0E-39A0-30B0-FEE7EFE20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966672"/>
            <a:ext cx="8087854" cy="1352739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D715F591-81BA-44F1-02F4-32D78A758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50" y="2401388"/>
            <a:ext cx="6652244" cy="2336532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32585568-E6EA-3841-F70F-322D8747B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110" y="4113076"/>
            <a:ext cx="7201905" cy="2876951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2A866D08-3E2F-121D-7269-E17C1AF89519}"/>
              </a:ext>
            </a:extLst>
          </p:cNvPr>
          <p:cNvSpPr/>
          <p:nvPr/>
        </p:nvSpPr>
        <p:spPr>
          <a:xfrm>
            <a:off x="8337376" y="5049180"/>
            <a:ext cx="1252203" cy="252028"/>
          </a:xfrm>
          <a:prstGeom prst="roundRect">
            <a:avLst/>
          </a:prstGeom>
          <a:noFill/>
          <a:ln w="19050" cap="flat" cmpd="sng" algn="ctr">
            <a:solidFill>
              <a:srgbClr val="FDD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0584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2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212D05DD-5ED8-240E-1EE9-D68483A125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56" y="1441500"/>
            <a:ext cx="9468858" cy="4464496"/>
          </a:xfrm>
          <a:prstGeom prst="rect">
            <a:avLst/>
          </a:prstGeom>
        </p:spPr>
      </p:pic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9C7EF61-DC66-F970-7BA9-C3787AD421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314D315-6C69-40BF-98D6-60239DAB9584}" type="slidenum">
              <a:rPr lang="ja-JP" altLang="en-US" smtClean="0"/>
              <a:pPr/>
              <a:t>27</a:t>
            </a:fld>
            <a:r>
              <a:rPr lang="ja-JP" altLang="en-US"/>
              <a:t>　</a:t>
            </a:r>
            <a:endParaRPr lang="ja-JP" altLang="en-US" dirty="0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694F6F3C-4D58-A808-2968-18CBF7D9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ワークフローの全体像</a:t>
            </a:r>
            <a:endParaRPr kumimoji="1" lang="ja-JP" altLang="en-US" dirty="0"/>
          </a:p>
        </p:txBody>
      </p:sp>
      <p:sp>
        <p:nvSpPr>
          <p:cNvPr id="5" name="吹き出し: 四角形 4">
            <a:extLst>
              <a:ext uri="{FF2B5EF4-FFF2-40B4-BE49-F238E27FC236}">
                <a16:creationId xmlns:a16="http://schemas.microsoft.com/office/drawing/2014/main" id="{C1FCAA6E-D663-611D-BCE2-2D25035A5A0A}"/>
              </a:ext>
            </a:extLst>
          </p:cNvPr>
          <p:cNvSpPr/>
          <p:nvPr/>
        </p:nvSpPr>
        <p:spPr>
          <a:xfrm>
            <a:off x="1820652" y="1556792"/>
            <a:ext cx="1692188" cy="648072"/>
          </a:xfrm>
          <a:prstGeom prst="wedgeRectCallout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筆者が</a:t>
            </a:r>
            <a:r>
              <a:rPr lang="ja-JP" altLang="en-US" b="1" dirty="0"/>
              <a:t>責任</a:t>
            </a:r>
            <a:r>
              <a:rPr lang="ja-JP" altLang="en-US" dirty="0"/>
              <a:t>を持つ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900A281E-2C0C-98CE-5C72-5BB77CDE8F13}"/>
              </a:ext>
            </a:extLst>
          </p:cNvPr>
          <p:cNvSpPr/>
          <p:nvPr/>
        </p:nvSpPr>
        <p:spPr>
          <a:xfrm>
            <a:off x="5817096" y="1556792"/>
            <a:ext cx="2049065" cy="648072"/>
          </a:xfrm>
          <a:prstGeom prst="wedgeRectCallout">
            <a:avLst/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Self review</a:t>
            </a:r>
            <a:r>
              <a:rPr lang="ja-JP" altLang="en-US" dirty="0"/>
              <a:t>の結果は</a:t>
            </a:r>
            <a:r>
              <a:rPr lang="en-US" altLang="ja-JP" b="1" dirty="0"/>
              <a:t>PR</a:t>
            </a:r>
            <a:r>
              <a:rPr lang="ja-JP" altLang="en-US" b="1" dirty="0"/>
              <a:t>に残す</a:t>
            </a:r>
            <a:endParaRPr kumimoji="1" lang="ja-JP" altLang="en-US" b="1" dirty="0"/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1C0C184A-AEA5-0447-91E0-ED85D7F7E0FB}"/>
              </a:ext>
            </a:extLst>
          </p:cNvPr>
          <p:cNvSpPr/>
          <p:nvPr/>
        </p:nvSpPr>
        <p:spPr>
          <a:xfrm>
            <a:off x="524508" y="4652540"/>
            <a:ext cx="2844316" cy="648072"/>
          </a:xfrm>
          <a:prstGeom prst="wedgeRectCallout">
            <a:avLst>
              <a:gd name="adj1" fmla="val 23346"/>
              <a:gd name="adj2" fmla="val -72952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</a:t>
            </a:r>
            <a:r>
              <a:rPr kumimoji="1" lang="ja-JP" altLang="en-US" dirty="0"/>
              <a:t>差分の説明</a:t>
            </a:r>
            <a:endParaRPr kumimoji="1" lang="en-US" altLang="ja-JP" dirty="0"/>
          </a:p>
          <a:p>
            <a:pPr algn="ctr"/>
            <a:r>
              <a:rPr lang="ja-JP" altLang="en-US" dirty="0"/>
              <a:t>🧑‍💻</a:t>
            </a:r>
            <a:r>
              <a:rPr lang="ja-JP" altLang="en-US" b="1" dirty="0"/>
              <a:t>メンタルモデル</a:t>
            </a:r>
            <a:r>
              <a:rPr lang="ja-JP" altLang="en-US" dirty="0"/>
              <a:t>の形成</a:t>
            </a:r>
            <a:endParaRPr kumimoji="1" lang="ja-JP" altLang="en-US" dirty="0"/>
          </a:p>
        </p:txBody>
      </p:sp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D1A457E5-9F18-B859-0EB7-3B174CF4069C}"/>
              </a:ext>
            </a:extLst>
          </p:cNvPr>
          <p:cNvSpPr/>
          <p:nvPr/>
        </p:nvSpPr>
        <p:spPr>
          <a:xfrm>
            <a:off x="3638757" y="4652540"/>
            <a:ext cx="2304256" cy="648072"/>
          </a:xfrm>
          <a:prstGeom prst="wedgeRectCallout">
            <a:avLst>
              <a:gd name="adj1" fmla="val -12728"/>
              <a:gd name="adj2" fmla="val -82829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🤖クリティカルな観点に</a:t>
            </a:r>
            <a:r>
              <a:rPr lang="ja-JP" altLang="en-US" b="1" dirty="0"/>
              <a:t>絞る</a:t>
            </a:r>
            <a:endParaRPr kumimoji="1" lang="ja-JP" altLang="en-US" b="1" dirty="0"/>
          </a:p>
        </p:txBody>
      </p:sp>
      <p:sp>
        <p:nvSpPr>
          <p:cNvPr id="10" name="吹き出し: 四角形 9">
            <a:extLst>
              <a:ext uri="{FF2B5EF4-FFF2-40B4-BE49-F238E27FC236}">
                <a16:creationId xmlns:a16="http://schemas.microsoft.com/office/drawing/2014/main" id="{71C3264E-1373-22D0-5023-F3EB6F45E5C7}"/>
              </a:ext>
            </a:extLst>
          </p:cNvPr>
          <p:cNvSpPr/>
          <p:nvPr/>
        </p:nvSpPr>
        <p:spPr>
          <a:xfrm>
            <a:off x="6017886" y="4657084"/>
            <a:ext cx="2499510" cy="648072"/>
          </a:xfrm>
          <a:prstGeom prst="wedgeRectCallout">
            <a:avLst>
              <a:gd name="adj1" fmla="val -26617"/>
              <a:gd name="adj2" fmla="val -89884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🧑‍💻ちゃんと</a:t>
            </a:r>
            <a:r>
              <a:rPr lang="ja-JP" altLang="en-US" b="1" dirty="0"/>
              <a:t>理解</a:t>
            </a:r>
            <a:r>
              <a:rPr lang="ja-JP" altLang="en-US" dirty="0"/>
              <a:t>して指摘・コメントする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7E0CE6D1-25AC-EF84-18C6-3992CD5D8E11}"/>
              </a:ext>
            </a:extLst>
          </p:cNvPr>
          <p:cNvSpPr/>
          <p:nvPr/>
        </p:nvSpPr>
        <p:spPr>
          <a:xfrm>
            <a:off x="4775260" y="3429000"/>
            <a:ext cx="2950048" cy="618156"/>
          </a:xfrm>
          <a:prstGeom prst="wedgeRectCallout">
            <a:avLst>
              <a:gd name="adj1" fmla="val -26986"/>
              <a:gd name="adj2" fmla="val -84308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🤖セルフレビュー済みの内容は重複指摘しない</a:t>
            </a:r>
            <a:endParaRPr kumimoji="1" lang="ja-JP" altLang="en-US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B7C8B2DE-AB29-A6BF-66D4-DEA7E3BD6EEC}"/>
              </a:ext>
            </a:extLst>
          </p:cNvPr>
          <p:cNvSpPr txBox="1"/>
          <p:nvPr/>
        </p:nvSpPr>
        <p:spPr>
          <a:xfrm>
            <a:off x="2522730" y="6107786"/>
            <a:ext cx="48605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800" b="1" dirty="0"/>
              <a:t>重要なのは「AI に言われたから」ではなく</a:t>
            </a:r>
          </a:p>
          <a:p>
            <a:r>
              <a:rPr kumimoji="1" lang="ja-JP" altLang="en-US" sz="1800" b="1" dirty="0"/>
              <a:t>「自分はこう判断した」と残すこと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52D068A-F0AE-A905-DD6B-6C22DE75640E}"/>
              </a:ext>
            </a:extLst>
          </p:cNvPr>
          <p:cNvSpPr txBox="1"/>
          <p:nvPr/>
        </p:nvSpPr>
        <p:spPr>
          <a:xfrm>
            <a:off x="2523122" y="5797902"/>
            <a:ext cx="2645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/>
              <a:t>作者・レビュワー共に、</a:t>
            </a:r>
            <a:endParaRPr lang="en-US" altLang="ja-JP" b="1" dirty="0"/>
          </a:p>
        </p:txBody>
      </p:sp>
      <p:sp>
        <p:nvSpPr>
          <p:cNvPr id="2" name="吹き出し: 四角形 1">
            <a:extLst>
              <a:ext uri="{FF2B5EF4-FFF2-40B4-BE49-F238E27FC236}">
                <a16:creationId xmlns:a16="http://schemas.microsoft.com/office/drawing/2014/main" id="{1E02CE2C-4506-3F74-98E8-8D30AEFB1CEB}"/>
              </a:ext>
            </a:extLst>
          </p:cNvPr>
          <p:cNvSpPr/>
          <p:nvPr/>
        </p:nvSpPr>
        <p:spPr>
          <a:xfrm>
            <a:off x="2075843" y="2888940"/>
            <a:ext cx="2049065" cy="648072"/>
          </a:xfrm>
          <a:prstGeom prst="wedgeRectCallout">
            <a:avLst>
              <a:gd name="adj1" fmla="val 36734"/>
              <a:gd name="adj2" fmla="val -7154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指摘を採用するか</a:t>
            </a:r>
            <a:endParaRPr kumimoji="1" lang="en-US" altLang="ja-JP" dirty="0"/>
          </a:p>
          <a:p>
            <a:pPr algn="ctr"/>
            <a:r>
              <a:rPr lang="ja-JP" altLang="en-US" b="1" dirty="0"/>
              <a:t>意思決定</a:t>
            </a:r>
            <a:r>
              <a:rPr lang="ja-JP" altLang="en-US" dirty="0"/>
              <a:t>する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15832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5" grpId="0"/>
      <p:bldP spid="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704850" y="1282427"/>
            <a:ext cx="8496300" cy="5062898"/>
          </a:xfrm>
        </p:spPr>
        <p:txBody>
          <a:bodyPr>
            <a:normAutofit/>
          </a:bodyPr>
          <a:lstStyle/>
          <a:p>
            <a:r>
              <a:rPr kumimoji="1" lang="ja-JP" altLang="en-US" sz="1500" b="1" dirty="0"/>
              <a:t>それぞれの責任</a:t>
            </a:r>
          </a:p>
          <a:p>
            <a:pPr lvl="1"/>
            <a:r>
              <a:rPr kumimoji="1" lang="ja-JP" altLang="en-US" sz="1500" dirty="0"/>
              <a:t>筆者</a:t>
            </a:r>
            <a:r>
              <a:rPr lang="ja-JP" altLang="en-US" sz="1400" dirty="0"/>
              <a:t>🧑‍💻</a:t>
            </a:r>
            <a:r>
              <a:rPr kumimoji="1" lang="ja-JP" altLang="en-US" sz="1500" dirty="0"/>
              <a:t>：変更を内面化する、トレードオフを評価して</a:t>
            </a:r>
            <a:r>
              <a:rPr kumimoji="1" lang="ja-JP" altLang="en-US" sz="1500" b="1" dirty="0"/>
              <a:t>設計判断</a:t>
            </a:r>
            <a:r>
              <a:rPr kumimoji="1" lang="ja-JP" altLang="en-US" sz="1500" dirty="0"/>
              <a:t>する</a:t>
            </a:r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r>
              <a:rPr lang="ja-JP" altLang="en-US" sz="1500" dirty="0"/>
              <a:t>レビュワー</a:t>
            </a:r>
            <a:r>
              <a:rPr lang="ja-JP" altLang="en-US" sz="1400" dirty="0"/>
              <a:t>🧑‍💻</a:t>
            </a:r>
            <a:r>
              <a:rPr lang="ja-JP" altLang="en-US" sz="1500" dirty="0"/>
              <a:t>：変更を</a:t>
            </a:r>
            <a:r>
              <a:rPr lang="ja-JP" altLang="en-US" sz="1500" b="1" dirty="0"/>
              <a:t>内面化</a:t>
            </a:r>
            <a:r>
              <a:rPr lang="ja-JP" altLang="en-US" sz="1500" dirty="0"/>
              <a:t>する、設計判断を評価する</a:t>
            </a:r>
            <a:endParaRPr lang="en-US" altLang="ja-JP" sz="1500" dirty="0"/>
          </a:p>
          <a:p>
            <a:pPr lvl="1"/>
            <a:endParaRPr lang="en-US" altLang="ja-JP" sz="1500" dirty="0"/>
          </a:p>
          <a:p>
            <a:pPr lvl="1"/>
            <a:r>
              <a:rPr lang="ja-JP" altLang="en-US" sz="1500" dirty="0"/>
              <a:t>チーム</a:t>
            </a:r>
            <a:r>
              <a:rPr lang="ja-JP" altLang="en-US" sz="1600" dirty="0"/>
              <a:t>🧑‍💻🧑‍💻🧑‍💻</a:t>
            </a:r>
            <a:r>
              <a:rPr lang="ja-JP" altLang="en-US" sz="1500" dirty="0"/>
              <a:t>：判断を</a:t>
            </a:r>
            <a:r>
              <a:rPr lang="ja-JP" altLang="en-US" sz="1500" b="1" dirty="0"/>
              <a:t>言語化</a:t>
            </a:r>
            <a:r>
              <a:rPr lang="ja-JP" altLang="en-US" sz="1500" dirty="0"/>
              <a:t>して、</a:t>
            </a:r>
            <a:r>
              <a:rPr lang="en-US" altLang="ja-JP" sz="1500" dirty="0"/>
              <a:t>md</a:t>
            </a:r>
            <a:r>
              <a:rPr lang="ja-JP" altLang="en-US" sz="1500" dirty="0"/>
              <a:t>ファイルに落とし込む</a:t>
            </a:r>
            <a:endParaRPr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kumimoji="1" lang="en-US" altLang="ja-JP" sz="1500" dirty="0"/>
          </a:p>
          <a:p>
            <a:pPr lvl="1"/>
            <a:endParaRPr lang="en-US" altLang="ja-JP" sz="1500" dirty="0"/>
          </a:p>
          <a:p>
            <a:pPr lvl="1"/>
            <a:r>
              <a:rPr kumimoji="1" lang="en-US" altLang="ja-JP" sz="1500" dirty="0"/>
              <a:t>AI</a:t>
            </a:r>
            <a:r>
              <a:rPr lang="ja-JP" altLang="en-US" sz="1600" dirty="0"/>
              <a:t>🤖</a:t>
            </a:r>
            <a:r>
              <a:rPr kumimoji="1" lang="ja-JP" altLang="en-US" sz="1500" dirty="0"/>
              <a:t>：</a:t>
            </a:r>
            <a:r>
              <a:rPr kumimoji="1" lang="en-US" altLang="ja-JP" sz="1500" dirty="0"/>
              <a:t>md</a:t>
            </a:r>
            <a:r>
              <a:rPr kumimoji="1" lang="ja-JP" altLang="en-US" sz="1500" dirty="0"/>
              <a:t>ファイルに</a:t>
            </a:r>
            <a:r>
              <a:rPr kumimoji="1" lang="ja-JP" altLang="en-US" sz="1500" b="1" dirty="0"/>
              <a:t>言語化済み</a:t>
            </a:r>
            <a:r>
              <a:rPr kumimoji="1" lang="ja-JP" altLang="en-US" sz="1500" dirty="0"/>
              <a:t>の判断が一貫されているか網羅的に評価する</a:t>
            </a:r>
            <a:br>
              <a:rPr kumimoji="1" lang="en-US" altLang="ja-JP" sz="1500" dirty="0"/>
            </a:br>
            <a:r>
              <a:rPr kumimoji="1" lang="ja-JP" altLang="en-US" sz="1500" dirty="0"/>
              <a:t>　　　トレードオフ</a:t>
            </a:r>
            <a:r>
              <a:rPr lang="ja-JP" altLang="en-US" sz="1500" dirty="0"/>
              <a:t>がある場合は、</a:t>
            </a:r>
            <a:r>
              <a:rPr kumimoji="1" lang="ja-JP" altLang="en-US" sz="1500" dirty="0"/>
              <a:t>サジェストする</a:t>
            </a:r>
            <a:endParaRPr lang="ja-JP" altLang="en-US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人間の責任　</a:t>
            </a:r>
            <a:r>
              <a:rPr kumimoji="1" lang="en-US" altLang="ja-JP" dirty="0"/>
              <a:t>AI</a:t>
            </a:r>
            <a:r>
              <a:rPr lang="ja-JP" altLang="en-US" dirty="0"/>
              <a:t>への</a:t>
            </a:r>
            <a:r>
              <a:rPr kumimoji="1" lang="ja-JP" altLang="en-US" dirty="0"/>
              <a:t>責任委譲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F4EED5A9-17F6-8A21-3B95-50E5EFB479E0}"/>
              </a:ext>
            </a:extLst>
          </p:cNvPr>
          <p:cNvSpPr/>
          <p:nvPr/>
        </p:nvSpPr>
        <p:spPr>
          <a:xfrm>
            <a:off x="4595406" y="1073236"/>
            <a:ext cx="4605744" cy="418381"/>
          </a:xfrm>
          <a:prstGeom prst="wedgeRectCallout">
            <a:avLst>
              <a:gd name="adj1" fmla="val -21090"/>
              <a:gd name="adj2" fmla="val 97331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すべての設計判断はトレードオフに基づく</a:t>
            </a:r>
            <a:endParaRPr kumimoji="1" lang="ja-JP" altLang="en-US" dirty="0"/>
          </a:p>
        </p:txBody>
      </p:sp>
      <p:sp>
        <p:nvSpPr>
          <p:cNvPr id="7" name="吹き出し: 四角形 6">
            <a:extLst>
              <a:ext uri="{FF2B5EF4-FFF2-40B4-BE49-F238E27FC236}">
                <a16:creationId xmlns:a16="http://schemas.microsoft.com/office/drawing/2014/main" id="{236351FD-DB96-A20A-6E50-88B61FA837B0}"/>
              </a:ext>
            </a:extLst>
          </p:cNvPr>
          <p:cNvSpPr/>
          <p:nvPr/>
        </p:nvSpPr>
        <p:spPr>
          <a:xfrm>
            <a:off x="4052900" y="3709280"/>
            <a:ext cx="4334008" cy="418381"/>
          </a:xfrm>
          <a:prstGeom prst="wedgeRectCallout">
            <a:avLst>
              <a:gd name="adj1" fmla="val -53515"/>
              <a:gd name="adj2" fmla="val -116855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そうすれば</a:t>
            </a:r>
            <a:r>
              <a:rPr lang="en-US" altLang="ja-JP" dirty="0"/>
              <a:t>AI</a:t>
            </a:r>
            <a:r>
              <a:rPr lang="ja-JP" altLang="en-US" dirty="0"/>
              <a:t>が見れるので</a:t>
            </a:r>
            <a:r>
              <a:rPr lang="ja-JP" altLang="en-US" b="1" dirty="0"/>
              <a:t>スケール</a:t>
            </a:r>
            <a:r>
              <a:rPr lang="ja-JP" altLang="en-US" dirty="0"/>
              <a:t>する</a:t>
            </a:r>
            <a:endParaRPr kumimoji="1" lang="ja-JP" altLang="en-US" dirty="0"/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C3F2ACC-76A6-8582-09D8-85C231A2B961}"/>
              </a:ext>
            </a:extLst>
          </p:cNvPr>
          <p:cNvSpPr/>
          <p:nvPr/>
        </p:nvSpPr>
        <p:spPr>
          <a:xfrm>
            <a:off x="1352600" y="4343975"/>
            <a:ext cx="5220580" cy="418381"/>
          </a:xfrm>
          <a:prstGeom prst="wedgeRectCallout">
            <a:avLst>
              <a:gd name="adj1" fmla="val -11211"/>
              <a:gd name="adj2" fmla="val -184607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逆に、個人の頭に留めておくとスケールしない</a:t>
            </a:r>
            <a:endParaRPr lang="en-US" altLang="ja-JP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2A480-17D9-D96D-ABBB-2D2E81196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A7ED6F00-4B77-5D41-8D72-117D6963C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4850" y="1268760"/>
            <a:ext cx="8496300" cy="4894536"/>
          </a:xfrm>
        </p:spPr>
        <p:txBody>
          <a:bodyPr>
            <a:normAutofit/>
          </a:bodyPr>
          <a:lstStyle/>
          <a:p>
            <a:r>
              <a:rPr lang="ja-JP" altLang="en-US" sz="1500" b="1" dirty="0"/>
              <a:t>レビューの役割</a:t>
            </a:r>
          </a:p>
          <a:p>
            <a:pPr lvl="1"/>
            <a:r>
              <a:rPr lang="ja-JP" altLang="en-US" sz="1600" dirty="0"/>
              <a:t>コードが体現する</a:t>
            </a:r>
            <a:r>
              <a:rPr lang="ja-JP" altLang="en-US" sz="1600" b="1" dirty="0"/>
              <a:t>設計判断とその影響をチームで共有する</a:t>
            </a:r>
            <a:r>
              <a:rPr lang="ja-JP" altLang="en-US" sz="1600" dirty="0"/>
              <a:t>営み</a:t>
            </a:r>
            <a:endParaRPr lang="en-US" altLang="ja-JP" sz="1600" dirty="0"/>
          </a:p>
          <a:p>
            <a:pPr lvl="2"/>
            <a:r>
              <a:rPr lang="ja-JP" altLang="en-US" sz="1600" dirty="0"/>
              <a:t>筆者：</a:t>
            </a:r>
            <a:r>
              <a:rPr lang="ja-JP" altLang="en-US" sz="1600" b="1" dirty="0"/>
              <a:t>設計意図を頭の中に内面化</a:t>
            </a:r>
            <a:r>
              <a:rPr lang="ja-JP" altLang="en-US" sz="1600" dirty="0"/>
              <a:t>してからレビューに出す</a:t>
            </a:r>
          </a:p>
          <a:p>
            <a:pPr lvl="2"/>
            <a:r>
              <a:rPr lang="ja-JP" altLang="en-US" sz="1600" dirty="0"/>
              <a:t>レビュワー：設計意図や影響範囲を理解し、評価・合意する</a:t>
            </a:r>
            <a:endParaRPr kumimoji="1" lang="en-US" altLang="ja-JP" sz="1500" b="1" dirty="0"/>
          </a:p>
          <a:p>
            <a:r>
              <a:rPr kumimoji="1" lang="ja-JP" altLang="en-US" sz="1500" b="1" dirty="0"/>
              <a:t>人間の責任</a:t>
            </a:r>
          </a:p>
          <a:p>
            <a:pPr lvl="1"/>
            <a:r>
              <a:rPr kumimoji="1" lang="ja-JP" altLang="en-US" sz="1500" b="1" dirty="0"/>
              <a:t>違和感を言語化</a:t>
            </a:r>
            <a:r>
              <a:rPr kumimoji="1" lang="ja-JP" altLang="en-US" sz="1500" dirty="0"/>
              <a:t>し、満足できる条件を策定し、受け入れるトレードオフを決める</a:t>
            </a:r>
            <a:endParaRPr kumimoji="1" lang="en-US" altLang="ja-JP" sz="1500" dirty="0"/>
          </a:p>
          <a:p>
            <a:pPr marL="257173" lvl="1" indent="0">
              <a:buNone/>
            </a:pPr>
            <a:endParaRPr lang="ja-JP" altLang="en-US" dirty="0"/>
          </a:p>
          <a:p>
            <a:r>
              <a:rPr kumimoji="1" lang="ja-JP" altLang="en-US" sz="1500" b="1" dirty="0"/>
              <a:t>結局、人間が強くなるしかない</a:t>
            </a:r>
          </a:p>
          <a:p>
            <a:pPr lvl="1"/>
            <a:r>
              <a:rPr kumimoji="1" lang="ja-JP" altLang="en-US" sz="1500" dirty="0"/>
              <a:t>個別のレビューコメントの主目的は教育ではない</a:t>
            </a:r>
            <a:r>
              <a:rPr lang="ja-JP" altLang="en-US" sz="1500" dirty="0"/>
              <a:t>（メンタルモデルの合意である）</a:t>
            </a:r>
            <a:endParaRPr kumimoji="1" lang="ja-JP" altLang="en-US" sz="1500" dirty="0"/>
          </a:p>
          <a:p>
            <a:pPr lvl="1"/>
            <a:r>
              <a:rPr kumimoji="1" lang="ja-JP" altLang="en-US" sz="1500" dirty="0"/>
              <a:t>言語化能力・良い問いを産み出す力・意思決定能力を向上させる</a:t>
            </a:r>
            <a:r>
              <a:rPr kumimoji="1" lang="ja-JP" altLang="en-US" sz="1500" b="1" dirty="0"/>
              <a:t>仕組み</a:t>
            </a:r>
            <a:r>
              <a:rPr kumimoji="1" lang="ja-JP" altLang="en-US" sz="1500" dirty="0"/>
              <a:t>が必要</a:t>
            </a:r>
            <a:endParaRPr kumimoji="1" lang="en-US" altLang="ja-JP" sz="1500" dirty="0"/>
          </a:p>
          <a:p>
            <a:pPr lvl="1"/>
            <a:r>
              <a:rPr lang="ja-JP" altLang="en-US" sz="1500" dirty="0"/>
              <a:t>博識な</a:t>
            </a:r>
            <a:r>
              <a:rPr lang="en-US" altLang="ja-JP" sz="1500" dirty="0"/>
              <a:t>A</a:t>
            </a:r>
            <a:r>
              <a:rPr lang="ja-JP" altLang="en-US" sz="1500" dirty="0"/>
              <a:t>Ｉにたくさん質問させて、知らなかった知識を日々学んでいく</a:t>
            </a:r>
            <a:endParaRPr lang="en-US" altLang="ja-JP" sz="1500" dirty="0"/>
          </a:p>
          <a:p>
            <a:pPr lvl="1"/>
            <a:r>
              <a:rPr kumimoji="1" lang="ja-JP" altLang="en-US" sz="1500" dirty="0"/>
              <a:t>意思決定を繰り返し、フィードバックを得る</a:t>
            </a:r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9AD7D9B-DA65-5172-2F87-0638FD2C6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  <p:sp>
        <p:nvSpPr>
          <p:cNvPr id="6" name="吹き出し: 四角形 5">
            <a:extLst>
              <a:ext uri="{FF2B5EF4-FFF2-40B4-BE49-F238E27FC236}">
                <a16:creationId xmlns:a16="http://schemas.microsoft.com/office/drawing/2014/main" id="{C481045E-40A1-265A-2406-48FEEB0DD2A8}"/>
              </a:ext>
            </a:extLst>
          </p:cNvPr>
          <p:cNvSpPr/>
          <p:nvPr/>
        </p:nvSpPr>
        <p:spPr>
          <a:xfrm>
            <a:off x="4613412" y="5874409"/>
            <a:ext cx="5292588" cy="983591"/>
          </a:xfrm>
          <a:prstGeom prst="wedgeRectCallout">
            <a:avLst>
              <a:gd name="adj1" fmla="val -33259"/>
              <a:gd name="adj2" fmla="val -88050"/>
            </a:avLst>
          </a:prstGeom>
          <a:solidFill>
            <a:schemeClr val="accent6">
              <a:lumMod val="75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ja-JP" altLang="en-US" sz="1600" dirty="0"/>
              <a:t>「まだ答えを言えないが、何か知っている感じがする」という感覚が立ち上がり、</a:t>
            </a:r>
            <a:br>
              <a:rPr lang="en-US" altLang="ja-JP" sz="1600" dirty="0"/>
            </a:br>
            <a:r>
              <a:rPr lang="ja-JP" altLang="en-US" sz="1600" dirty="0"/>
              <a:t>その後にそれを言語が整理・固定・共有可能にする</a:t>
            </a:r>
          </a:p>
        </p:txBody>
      </p:sp>
    </p:spTree>
    <p:extLst>
      <p:ext uri="{BB962C8B-B14F-4D97-AF65-F5344CB8AC3E}">
        <p14:creationId xmlns:p14="http://schemas.microsoft.com/office/powerpoint/2010/main" val="246466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C864C-ABF0-D0C1-BF39-0334A096B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447E06-5663-D993-00F5-27716A086B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判断（Judgment）と</a:t>
            </a:r>
            <a:br>
              <a:rPr lang="en-US" altLang="ja-JP" dirty="0"/>
            </a:br>
            <a:r>
              <a:rPr lang="ja-JP" altLang="en-US" dirty="0"/>
              <a:t>演算（Reckoning）</a:t>
            </a:r>
            <a:endParaRPr kumimoji="1" lang="ja-JP" altLang="en-US" sz="26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5CE312-5905-6B2B-5FD6-24AF00DEF7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偉大なる哲学者であり科学者：</a:t>
            </a:r>
            <a:r>
              <a:rPr lang="en-US" altLang="ja-JP" dirty="0"/>
              <a:t>Brian Cantwell Smith</a:t>
            </a:r>
            <a:endParaRPr kumimoji="1" lang="ja-JP" altLang="en-US" sz="13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D70937A-5EE4-27D0-92C7-AB41BE5F08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6429164" y="1340768"/>
            <a:ext cx="2540732" cy="2855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6132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344488" y="1304764"/>
            <a:ext cx="8496300" cy="4894536"/>
          </a:xfrm>
        </p:spPr>
        <p:txBody>
          <a:bodyPr>
            <a:normAutofit fontScale="92500" lnSpcReduction="20000"/>
          </a:bodyPr>
          <a:lstStyle/>
          <a:p>
            <a:r>
              <a:rPr kumimoji="1" lang="ja-JP" altLang="en-US" sz="1600" b="1" dirty="0"/>
              <a:t>計算の哲学・AI哲学・認知科学を横断する研究者</a:t>
            </a:r>
            <a:r>
              <a:rPr kumimoji="1" lang="ja-JP" altLang="en-US" sz="1400" dirty="0"/>
              <a:t>（1950–2025）</a:t>
            </a:r>
            <a:endParaRPr kumimoji="1" lang="en-US" altLang="ja-JP" sz="1400" dirty="0"/>
          </a:p>
          <a:p>
            <a:r>
              <a:rPr lang="en-US" altLang="ja-JP" sz="1400" dirty="0">
                <a:hlinkClick r:id="rId2"/>
              </a:rPr>
              <a:t>Obituary: Brian Cantwell Smith (1950 to 2025) - Faculty of Information</a:t>
            </a:r>
            <a:endParaRPr lang="ja-JP" altLang="en-US" sz="800" dirty="0"/>
          </a:p>
          <a:p>
            <a:r>
              <a:rPr kumimoji="1" lang="ja-JP" altLang="en-US" sz="1600" b="1" dirty="0"/>
              <a:t>学術キャリア</a:t>
            </a:r>
          </a:p>
          <a:p>
            <a:pPr lvl="1"/>
            <a:r>
              <a:rPr kumimoji="1" lang="ja-JP" altLang="en-US" sz="1400" dirty="0"/>
              <a:t>MIT で博士号取得 — 世界初のリフレクティブ言語 3-Lisp を開発</a:t>
            </a:r>
          </a:p>
          <a:p>
            <a:pPr lvl="1"/>
            <a:r>
              <a:rPr kumimoji="1" lang="ja-JP" altLang="en-US" sz="1400" dirty="0"/>
              <a:t>Stanford 大学で CSLI（言語情報研究センター）を共同設立</a:t>
            </a:r>
          </a:p>
          <a:p>
            <a:pPr lvl="1"/>
            <a:r>
              <a:rPr kumimoji="1" lang="ja-JP" altLang="en-US" sz="1400" dirty="0"/>
              <a:t>Computer Professionals for Social Responsibility（CPSR）初代会長</a:t>
            </a:r>
          </a:p>
          <a:p>
            <a:pPr lvl="1"/>
            <a:r>
              <a:rPr kumimoji="1" lang="ja-JP" altLang="en-US" sz="1400" dirty="0"/>
              <a:t>トロント大学情報学部長を経て Reid Hoffman Chair in AI and the Human を保持</a:t>
            </a:r>
            <a:endParaRPr lang="ja-JP" altLang="en-US" sz="800" dirty="0"/>
          </a:p>
          <a:p>
            <a:r>
              <a:rPr kumimoji="1" lang="ja-JP" altLang="en-US" sz="1600" b="1" dirty="0"/>
              <a:t>主著</a:t>
            </a:r>
          </a:p>
          <a:p>
            <a:pPr lvl="1"/>
            <a:r>
              <a:rPr kumimoji="1" lang="ja-JP" altLang="en-US" sz="1400" i="1" dirty="0"/>
              <a:t>The Promise of Artificial Intelligence: </a:t>
            </a:r>
            <a:r>
              <a:rPr kumimoji="1" lang="ja-JP" altLang="en-US" sz="1400" b="1" i="1" dirty="0"/>
              <a:t>Reckoning and Judgment</a:t>
            </a:r>
            <a:r>
              <a:rPr kumimoji="1" lang="ja-JP" altLang="en-US" sz="1400" dirty="0"/>
              <a:t>（2019, MIT Press）</a:t>
            </a:r>
            <a:endParaRPr kumimoji="1" lang="en-US" altLang="ja-JP" sz="1400" dirty="0"/>
          </a:p>
          <a:p>
            <a:pPr lvl="2"/>
            <a:r>
              <a:rPr lang="ja-JP" altLang="en-US" dirty="0"/>
              <a:t>人工知能の可能性 機械は人間と同じ思考力を持てるのか　　</a:t>
            </a:r>
            <a:r>
              <a:rPr kumimoji="1" lang="ja-JP" altLang="en-US" sz="1400" dirty="0"/>
              <a:t>← </a:t>
            </a:r>
            <a:r>
              <a:rPr kumimoji="1" lang="ja-JP" altLang="en-US" sz="1400" b="1" dirty="0"/>
              <a:t>本発表の枠組み</a:t>
            </a:r>
          </a:p>
          <a:p>
            <a:pPr lvl="1"/>
            <a:r>
              <a:rPr kumimoji="1" lang="ja-JP" altLang="en-US" sz="1400" i="1" dirty="0"/>
              <a:t>On the Origin of Objects</a:t>
            </a:r>
            <a:r>
              <a:rPr kumimoji="1" lang="ja-JP" altLang="en-US" sz="1400" dirty="0"/>
              <a:t>（1996）/ </a:t>
            </a:r>
            <a:r>
              <a:rPr kumimoji="1" lang="ja-JP" altLang="en-US" sz="1400" i="1" dirty="0"/>
              <a:t>Computational Reflections</a:t>
            </a:r>
            <a:r>
              <a:rPr kumimoji="1" lang="ja-JP" altLang="en-US" sz="1400" dirty="0"/>
              <a:t>（2026, 遺著）</a:t>
            </a:r>
          </a:p>
          <a:p>
            <a:endParaRPr lang="ja-JP" altLang="en-US" sz="800" dirty="0"/>
          </a:p>
          <a:p>
            <a:r>
              <a:rPr kumimoji="1" lang="ja-JP" altLang="en-US" sz="1600" b="1" dirty="0"/>
              <a:t>Smith をリスペクトする人物</a:t>
            </a:r>
          </a:p>
          <a:p>
            <a:pPr lvl="1"/>
            <a:r>
              <a:rPr kumimoji="1" lang="ja-JP" altLang="en-US" sz="1400" b="1" dirty="0"/>
              <a:t>Reid Hoffman</a:t>
            </a:r>
            <a:r>
              <a:rPr kumimoji="1" lang="ja-JP" altLang="en-US" sz="1400" dirty="0"/>
              <a:t>（LinkedIn 共同創業者）— Stanford で Smith の「AIの哲学」講義を受講</a:t>
            </a:r>
          </a:p>
          <a:p>
            <a:pPr lvl="2"/>
            <a:r>
              <a:rPr kumimoji="1" lang="ja-JP" altLang="en-US" sz="1400" dirty="0"/>
              <a:t>トロント大学に 245万ドルを寄付し Smith の名を冠した寄附講座を設立</a:t>
            </a:r>
          </a:p>
          <a:p>
            <a:pPr lvl="1"/>
            <a:r>
              <a:rPr kumimoji="1" lang="ja-JP" altLang="en-US" sz="1400" b="1" dirty="0"/>
              <a:t>Terry Winograd</a:t>
            </a:r>
            <a:r>
              <a:rPr kumimoji="1" lang="ja-JP" altLang="en-US" sz="1400" dirty="0"/>
              <a:t>（Stanford HCI/AI 権威）— 長年の学術的協力者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ja-JP" dirty="0"/>
              <a:t>Brian Cantwell Smith</a:t>
            </a:r>
            <a:r>
              <a:rPr kumimoji="1" lang="ja-JP" altLang="en-US" dirty="0"/>
              <a:t> </a:t>
            </a:r>
            <a:r>
              <a:rPr lang="ja-JP" altLang="en-US" dirty="0"/>
              <a:t>って何者？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4692293-D13F-DE3D-EBE6-5B7CEE069D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05" t="2673" r="15827"/>
          <a:stretch>
            <a:fillRect/>
          </a:stretch>
        </p:blipFill>
        <p:spPr>
          <a:xfrm>
            <a:off x="7365268" y="969109"/>
            <a:ext cx="2540732" cy="285593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2800" b="1" dirty="0"/>
              <a:t>Judgment（判断）</a:t>
            </a:r>
            <a:r>
              <a:rPr lang="ja-JP" altLang="en-US" sz="2800" dirty="0"/>
              <a:t>🧑‍💻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何を問うか・何を採るかを引き受けること</a:t>
            </a:r>
            <a:endParaRPr kumimoji="1" lang="en-US" altLang="ja-JP" sz="28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トレードオフの判断</a:t>
            </a:r>
            <a:endParaRPr lang="en-US" altLang="ja-JP" sz="20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何を解決するかの判断</a:t>
            </a:r>
            <a:endParaRPr lang="ja-JP" altLang="en-US" sz="1400" dirty="0"/>
          </a:p>
          <a:p>
            <a:r>
              <a:rPr kumimoji="1" lang="ja-JP" altLang="en-US" sz="2800" b="1" dirty="0"/>
              <a:t>Reckoning（演算）</a:t>
            </a:r>
            <a:r>
              <a:rPr lang="ja-JP" altLang="en-US" sz="2800" dirty="0"/>
              <a:t>🤖🛠️</a:t>
            </a:r>
            <a:endParaRPr kumimoji="1" lang="ja-JP" altLang="en-US" sz="2800" b="1" dirty="0"/>
          </a:p>
          <a:p>
            <a:pPr lvl="1"/>
            <a:r>
              <a:rPr kumimoji="1" lang="ja-JP" altLang="en-US" sz="2800" dirty="0"/>
              <a:t>与えられた条件で広く計算すること</a:t>
            </a:r>
            <a:endParaRPr kumimoji="1" lang="en-US" altLang="ja-JP" sz="2800" dirty="0"/>
          </a:p>
          <a:p>
            <a:pPr lvl="2"/>
            <a:r>
              <a:rPr kumimoji="1" lang="en-US" altLang="ja-JP" sz="2000" dirty="0"/>
              <a:t>Ex </a:t>
            </a:r>
            <a:r>
              <a:rPr kumimoji="1" lang="ja-JP" altLang="en-US" sz="2000" dirty="0"/>
              <a:t>コンテキストに従って生成すること</a:t>
            </a:r>
            <a:endParaRPr kumimoji="1" lang="en-US" altLang="ja-JP" sz="2000" dirty="0"/>
          </a:p>
          <a:p>
            <a:pPr lvl="2"/>
            <a:r>
              <a:rPr lang="en-US" altLang="ja-JP" sz="2000" dirty="0"/>
              <a:t>Ex </a:t>
            </a:r>
            <a:r>
              <a:rPr lang="ja-JP" altLang="en-US" sz="2000" dirty="0"/>
              <a:t>ツールを使って処理すること</a:t>
            </a:r>
            <a:endParaRPr kumimoji="1" lang="ja-JP" altLang="en-US" sz="20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</p:spTree>
    <p:extLst>
      <p:ext uri="{BB962C8B-B14F-4D97-AF65-F5344CB8AC3E}">
        <p14:creationId xmlns:p14="http://schemas.microsoft.com/office/powerpoint/2010/main" val="39897343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>
          <a:xfrm>
            <a:off x="429960" y="1282427"/>
            <a:ext cx="9059544" cy="4894536"/>
          </a:xfrm>
        </p:spPr>
        <p:txBody>
          <a:bodyPr>
            <a:normAutofit fontScale="92500" lnSpcReduction="20000"/>
          </a:bodyPr>
          <a:lstStyle/>
          <a:p>
            <a:pPr marL="257173" lvl="1" indent="0">
              <a:buNone/>
            </a:pPr>
            <a:r>
              <a:rPr lang="en-US" altLang="ja-JP" sz="2400" b="1" dirty="0"/>
              <a:t>Judgement</a:t>
            </a:r>
            <a:r>
              <a:rPr lang="ja-JP" altLang="en-US" sz="2400" b="1" dirty="0"/>
              <a:t>の定義</a:t>
            </a:r>
            <a:endParaRPr lang="en-US" altLang="ja-JP" sz="2400" b="1" dirty="0"/>
          </a:p>
          <a:p>
            <a:pPr lvl="1"/>
            <a:r>
              <a:rPr lang="en-US" altLang="ja-JP" sz="2400" b="1" dirty="0"/>
              <a:t>&gt; </a:t>
            </a:r>
            <a:r>
              <a:rPr lang="en-US" altLang="ja-JP" sz="2400" dirty="0"/>
              <a:t>a form of dispassionate deliberative thought, grounded in ethical commitment and responsible action, appropriate to the situation in which it is deployed</a:t>
            </a:r>
          </a:p>
          <a:p>
            <a:pPr lvl="1"/>
            <a:r>
              <a:rPr lang="ja-JP" altLang="en-US" sz="2400" dirty="0"/>
              <a:t>訳：倫理的な</a:t>
            </a:r>
            <a:r>
              <a:rPr lang="ja-JP" altLang="en-US" sz="2400" b="1" dirty="0"/>
              <a:t>責任</a:t>
            </a:r>
            <a:r>
              <a:rPr lang="ja-JP" altLang="en-US" sz="2400" dirty="0"/>
              <a:t>と誠実な行動に基づき、その場の状況にふさわしい形で発揮される、冷静で慎重な思考のあり方。</a:t>
            </a:r>
            <a:endParaRPr lang="en-US" altLang="ja-JP" sz="2400" dirty="0"/>
          </a:p>
          <a:p>
            <a:pPr lvl="1"/>
            <a:endParaRPr lang="en-US" altLang="ja-JP" sz="2400" b="1" dirty="0"/>
          </a:p>
          <a:p>
            <a:pPr lvl="1"/>
            <a:r>
              <a:rPr lang="ja-JP" altLang="en-US" sz="2400" dirty="0"/>
              <a:t>人間：</a:t>
            </a:r>
            <a:r>
              <a:rPr lang="ja-JP" altLang="en-US" sz="2400" b="1" dirty="0"/>
              <a:t>掛け金</a:t>
            </a:r>
            <a:r>
              <a:rPr lang="ja-JP" altLang="en-US" sz="2400" dirty="0"/>
              <a:t>を持つ主体として生きる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違和感を問いとして言語化し、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満足できる条件を策定し、</a:t>
            </a:r>
            <a:endParaRPr kumimoji="1" lang="en-US" altLang="ja-JP" sz="2400" dirty="0"/>
          </a:p>
          <a:p>
            <a:pPr lvl="2"/>
            <a:r>
              <a:rPr kumimoji="1" lang="ja-JP" altLang="en-US" sz="2400" dirty="0"/>
              <a:t>受け入れるトレードオフを決める</a:t>
            </a:r>
            <a:endParaRPr kumimoji="1" lang="en-US" altLang="ja-JP" sz="2400" dirty="0"/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結び: 人間が引き受けるべきこと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B019F2-1916-EC49-C447-6CFB51CD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5C34B18D-6E76-2900-D135-3A71908B83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600" dirty="0"/>
              <a:t>現行 LLM の得意領域は Reckoning</a:t>
            </a:r>
            <a:r>
              <a:rPr lang="ja-JP" altLang="en-US" b="1" dirty="0"/>
              <a:t>（演算）</a:t>
            </a:r>
            <a:endParaRPr kumimoji="1" lang="ja-JP" altLang="en-US" sz="1600" dirty="0"/>
          </a:p>
          <a:p>
            <a:pPr lvl="1"/>
            <a:r>
              <a:rPr kumimoji="1" lang="ja-JP" altLang="en-US" sz="1600" dirty="0"/>
              <a:t>人間が与えた判断基準（</a:t>
            </a:r>
            <a:r>
              <a:rPr kumimoji="1" lang="en-US" altLang="ja-JP" sz="1600" b="1" dirty="0"/>
              <a:t>Context</a:t>
            </a:r>
            <a:r>
              <a:rPr kumimoji="1" lang="ja-JP" altLang="en-US" sz="1600" dirty="0"/>
              <a:t>）あるいは事前学習に沿って</a:t>
            </a:r>
            <a:br>
              <a:rPr kumimoji="1" lang="en-US" altLang="ja-JP" sz="1600" dirty="0"/>
            </a:br>
            <a:r>
              <a:rPr kumimoji="1" lang="ja-JP" altLang="en-US" sz="1600" b="1" dirty="0"/>
              <a:t>演算</a:t>
            </a:r>
            <a:r>
              <a:rPr lang="ja-JP" altLang="en-US" sz="1600" dirty="0"/>
              <a:t>させているに過ぎない　（自然言語的計算機？）</a:t>
            </a:r>
            <a:endParaRPr kumimoji="1" lang="en-US" altLang="ja-JP" sz="1600" dirty="0"/>
          </a:p>
          <a:p>
            <a:pPr lvl="1"/>
            <a:endParaRPr lang="en-US" altLang="ja-JP" sz="1600" dirty="0"/>
          </a:p>
          <a:p>
            <a:pPr marL="257173" lvl="1" indent="0">
              <a:buNone/>
            </a:pPr>
            <a:r>
              <a:rPr lang="ja-JP" altLang="en-US" sz="1600" dirty="0"/>
              <a:t>晩年の</a:t>
            </a:r>
            <a:r>
              <a:rPr lang="en-US" altLang="ja-JP" sz="1600" dirty="0"/>
              <a:t>Smith</a:t>
            </a:r>
            <a:r>
              <a:rPr lang="ja-JP" altLang="en-US" sz="1600" dirty="0"/>
              <a:t>は、「</a:t>
            </a:r>
            <a:r>
              <a:rPr lang="en-US" altLang="ja-JP" sz="1600" b="1" dirty="0"/>
              <a:t>AI</a:t>
            </a:r>
            <a:r>
              <a:rPr lang="ja-JP" altLang="en-US" sz="1600" b="1" dirty="0"/>
              <a:t>の圧倒的な演算力を前に、人間が判断の重要性を見失う</a:t>
            </a:r>
            <a:r>
              <a:rPr lang="ja-JP" altLang="en-US" sz="1600" dirty="0"/>
              <a:t>」</a:t>
            </a:r>
            <a:br>
              <a:rPr lang="en-US" altLang="ja-JP" sz="1600" dirty="0"/>
            </a:br>
            <a:r>
              <a:rPr lang="ja-JP" altLang="en-US" sz="1600" dirty="0"/>
              <a:t>ことを危惧していたそう</a:t>
            </a:r>
            <a:endParaRPr lang="en-US" altLang="ja-JP" sz="1600" dirty="0"/>
          </a:p>
          <a:p>
            <a:pPr lvl="2"/>
            <a:r>
              <a:rPr lang="en-US" altLang="ja-JP" sz="1600" dirty="0">
                <a:hlinkClick r:id="rId2"/>
              </a:rPr>
              <a:t>On Brian Cantwell Smith and the Promise of AI</a:t>
            </a:r>
            <a:endParaRPr lang="ja-JP" altLang="en-US" sz="1600" dirty="0"/>
          </a:p>
          <a:p>
            <a:pPr marL="257173" lvl="1" indent="0">
              <a:buNone/>
            </a:pPr>
            <a:endParaRPr kumimoji="1" lang="en-US" altLang="ja-JP" sz="1600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4A4BDA9A-4807-9063-214E-28E79A105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ja-JP" altLang="en-US" dirty="0"/>
              <a:t>枠組み: 判断（Judgment）と演算（Reckoning）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A22153F-3E1F-BA1D-0DF0-6F902F1C15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260" y="3609020"/>
            <a:ext cx="2324708" cy="290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5109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1800" b="1" dirty="0"/>
              <a:t>事例1: ドキュメントパイプライン</a:t>
            </a:r>
          </a:p>
          <a:p>
            <a:pPr lvl="1"/>
            <a:r>
              <a:rPr lang="ja-JP" altLang="en-US" sz="1800" dirty="0"/>
              <a:t>🧑‍💻</a:t>
            </a:r>
            <a:r>
              <a:rPr kumimoji="1" lang="ja-JP" altLang="en-US" sz="1800" dirty="0"/>
              <a:t>「</a:t>
            </a:r>
            <a:r>
              <a:rPr lang="ja-JP" altLang="en-US" sz="1800" dirty="0"/>
              <a:t>作業の進め方」「成果物の作り方」</a:t>
            </a:r>
            <a:r>
              <a:rPr kumimoji="1" lang="ja-JP" altLang="en-US" sz="1800" dirty="0"/>
              <a:t>を設計した</a:t>
            </a:r>
            <a:endParaRPr kumimoji="1" lang="en-US" altLang="ja-JP" sz="1800" dirty="0"/>
          </a:p>
          <a:p>
            <a:pPr lvl="2"/>
            <a:r>
              <a:rPr lang="en-US" altLang="ja-JP" sz="1800" dirty="0"/>
              <a:t>AI</a:t>
            </a:r>
            <a:r>
              <a:rPr lang="ja-JP" altLang="en-US" sz="1800" dirty="0"/>
              <a:t>🤖は設計に基づいてツール🛠️を作成した</a:t>
            </a:r>
            <a:endParaRPr kumimoji="1" lang="en-US" altLang="ja-JP" sz="1800" dirty="0"/>
          </a:p>
          <a:p>
            <a:r>
              <a:rPr kumimoji="1" lang="ja-JP" altLang="en-US" sz="1800" b="1" dirty="0"/>
              <a:t>事例2: AIレビューワークフロー</a:t>
            </a:r>
          </a:p>
          <a:p>
            <a:pPr lvl="1"/>
            <a:r>
              <a:rPr lang="ja-JP" altLang="en-US" sz="1600" dirty="0"/>
              <a:t>🧑‍💻</a:t>
            </a:r>
            <a:r>
              <a:rPr kumimoji="1" lang="ja-JP" altLang="en-US" sz="1600" dirty="0"/>
              <a:t>「人間・</a:t>
            </a:r>
            <a:r>
              <a:rPr kumimoji="1" lang="en-US" altLang="ja-JP" sz="1600" dirty="0"/>
              <a:t>AI</a:t>
            </a:r>
            <a:r>
              <a:rPr kumimoji="1" lang="ja-JP" altLang="en-US" sz="1600" dirty="0"/>
              <a:t>・ツールの役割分担」「判断力を持続可能にする仕組み」を設計した</a:t>
            </a:r>
            <a:endParaRPr kumimoji="1" lang="en-US" altLang="ja-JP" sz="1600" dirty="0"/>
          </a:p>
          <a:p>
            <a:pPr lvl="2"/>
            <a:r>
              <a:rPr lang="ja-JP" altLang="en-US" sz="1600" dirty="0"/>
              <a:t>人間が判断するべき領域🧑‍💻</a:t>
            </a:r>
            <a:endParaRPr lang="en-US" altLang="ja-JP" sz="1600" dirty="0"/>
          </a:p>
          <a:p>
            <a:pPr lvl="2"/>
            <a:r>
              <a:rPr lang="en-US" altLang="ja-JP" sz="1600" dirty="0"/>
              <a:t>AI</a:t>
            </a:r>
            <a:r>
              <a:rPr lang="ja-JP" altLang="en-US" sz="1600" dirty="0"/>
              <a:t>がスケールさせる領域🤖</a:t>
            </a:r>
            <a:endParaRPr lang="en-US" altLang="ja-JP" sz="1600" dirty="0"/>
          </a:p>
          <a:p>
            <a:pPr lvl="2"/>
            <a:r>
              <a:rPr lang="ja-JP" altLang="en-US" sz="1600" dirty="0"/>
              <a:t>必要な決定論的作業🛠️</a:t>
            </a:r>
            <a:endParaRPr kumimoji="1" lang="en-US" altLang="ja-JP" sz="2000" b="1" dirty="0"/>
          </a:p>
          <a:p>
            <a:r>
              <a:rPr kumimoji="1" lang="ja-JP" altLang="en-US" sz="2000" b="1" dirty="0"/>
              <a:t>共通パターン:</a:t>
            </a:r>
          </a:p>
          <a:p>
            <a:pPr lvl="1"/>
            <a:r>
              <a:rPr kumimoji="1" lang="ja-JP" altLang="en-US" sz="2000" dirty="0"/>
              <a:t>人間</a:t>
            </a:r>
            <a:r>
              <a:rPr lang="ja-JP" altLang="en-US" sz="2000" dirty="0"/>
              <a:t>🧑‍💻</a:t>
            </a:r>
            <a:r>
              <a:rPr kumimoji="1" lang="ja-JP" altLang="en-US" sz="2000" dirty="0"/>
              <a:t>が判断（</a:t>
            </a:r>
            <a:r>
              <a:rPr kumimoji="1" lang="en-US" altLang="ja-JP" sz="2000" dirty="0"/>
              <a:t>Judgement</a:t>
            </a:r>
            <a:r>
              <a:rPr kumimoji="1" lang="ja-JP" altLang="en-US" sz="2000" dirty="0"/>
              <a:t>）の枠組みを作り</a:t>
            </a:r>
            <a:endParaRPr kumimoji="1" lang="en-US" altLang="ja-JP" sz="2000" dirty="0"/>
          </a:p>
          <a:p>
            <a:pPr lvl="1"/>
            <a:r>
              <a:rPr kumimoji="1" lang="ja-JP" altLang="en-US" sz="2000" dirty="0"/>
              <a:t>AI</a:t>
            </a:r>
            <a:r>
              <a:rPr lang="ja-JP" altLang="en-US" sz="2000" dirty="0"/>
              <a:t>🤖</a:t>
            </a:r>
            <a:r>
              <a:rPr kumimoji="1" lang="ja-JP" altLang="en-US" sz="2000" dirty="0"/>
              <a:t>が演算（</a:t>
            </a:r>
            <a:r>
              <a:rPr kumimoji="1" lang="en-US" altLang="ja-JP" sz="2000" dirty="0"/>
              <a:t>Reckoning</a:t>
            </a:r>
            <a:r>
              <a:rPr kumimoji="1" lang="ja-JP" altLang="en-US" sz="2000" dirty="0"/>
              <a:t>）を担う</a:t>
            </a:r>
          </a:p>
        </p:txBody>
      </p:sp>
      <p:sp>
        <p:nvSpPr>
          <p:cNvPr id="3" name="タイトル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今日話した2つの仕組み</a:t>
            </a:r>
          </a:p>
        </p:txBody>
      </p:sp>
    </p:spTree>
    <p:extLst>
      <p:ext uri="{BB962C8B-B14F-4D97-AF65-F5344CB8AC3E}">
        <p14:creationId xmlns:p14="http://schemas.microsoft.com/office/powerpoint/2010/main" val="18258188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953D7-D1D8-9872-F82B-C58E1A081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1">
            <a:extLst>
              <a:ext uri="{FF2B5EF4-FFF2-40B4-BE49-F238E27FC236}">
                <a16:creationId xmlns:a16="http://schemas.microsoft.com/office/drawing/2014/main" id="{C234E5C6-7308-DBB9-103E-90172E568EEC}"/>
              </a:ext>
            </a:extLst>
          </p:cNvPr>
          <p:cNvSpPr txBox="1">
            <a:spLocks/>
          </p:cNvSpPr>
          <p:nvPr/>
        </p:nvSpPr>
        <p:spPr>
          <a:xfrm>
            <a:off x="0" y="1000000"/>
            <a:ext cx="9906000" cy="4800000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>
              <a:defRPr kumimoji="1" sz="2400">
                <a:solidFill>
                  <a:schemeClr val="tx1"/>
                </a:solidFill>
                <a:latin typeface="+mn-ea"/>
              </a:defRPr>
            </a:lvl1pPr>
          </a:lstStyle>
          <a:p>
            <a:pPr lvl="1"/>
            <a:r>
              <a:rPr lang="ja-JP" altLang="en-US" sz="3600" dirty="0"/>
              <a:t>　　　設計（エンジニアリング）🧑‍💻</a:t>
            </a:r>
            <a:endParaRPr lang="en-US" altLang="ja-JP" sz="3600" dirty="0"/>
          </a:p>
          <a:p>
            <a:pPr lvl="1"/>
            <a:endParaRPr lang="en-US" altLang="ja-JP" sz="3600" dirty="0"/>
          </a:p>
          <a:p>
            <a:pPr lvl="1"/>
            <a:r>
              <a:rPr lang="ja-JP" altLang="en-US" sz="3600" dirty="0"/>
              <a:t>　　　　　　　　↓</a:t>
            </a:r>
            <a:r>
              <a:rPr lang="ja-JP" altLang="en-US" sz="2800" dirty="0"/>
              <a:t>判断</a:t>
            </a:r>
            <a:r>
              <a:rPr lang="ja-JP" altLang="en-US" sz="3600" dirty="0"/>
              <a:t>↓</a:t>
            </a:r>
            <a:br>
              <a:rPr lang="en-US" altLang="ja-JP" sz="3600" dirty="0"/>
            </a:br>
            <a:endParaRPr lang="en-US" altLang="ja-JP" sz="3600" dirty="0"/>
          </a:p>
          <a:p>
            <a:pPr lvl="1"/>
            <a:r>
              <a:rPr lang="ja-JP" altLang="en-US" sz="3600" dirty="0"/>
              <a:t>「</a:t>
            </a:r>
            <a:r>
              <a:rPr lang="ja-JP" altLang="en-US" sz="2800" dirty="0"/>
              <a:t>判断 🙆→ 演算 🤖→ 判断🙅 → 演算🤖→判断 🙆」</a:t>
            </a:r>
            <a:br>
              <a:rPr lang="en-US" altLang="ja-JP" dirty="0"/>
            </a:br>
            <a:endParaRPr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40658428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テーマ">
  <a:themeElements>
    <a:clrScheme name="KENTEMテンプレート">
      <a:dk1>
        <a:srgbClr val="1E1E1E"/>
      </a:dk1>
      <a:lt1>
        <a:srgbClr val="FFFFFF"/>
      </a:lt1>
      <a:dk2>
        <a:srgbClr val="B3B3B3"/>
      </a:dk2>
      <a:lt2>
        <a:srgbClr val="F2F2F2"/>
      </a:lt2>
      <a:accent1>
        <a:srgbClr val="FDD000"/>
      </a:accent1>
      <a:accent2>
        <a:srgbClr val="00BFA6"/>
      </a:accent2>
      <a:accent3>
        <a:srgbClr val="40A6E6"/>
      </a:accent3>
      <a:accent4>
        <a:srgbClr val="F3271A"/>
      </a:accent4>
      <a:accent5>
        <a:srgbClr val="F2762E"/>
      </a:accent5>
      <a:accent6>
        <a:srgbClr val="97B1AB"/>
      </a:accent6>
      <a:hlink>
        <a:srgbClr val="0070C0"/>
      </a:hlink>
      <a:folHlink>
        <a:srgbClr val="0070C0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ンプレート" id="{F11C7BB4-7BEF-41A9-B54E-EBBAC349AD90}" vid="{FD0F4BAD-71E0-4F59-8C3C-B0C7638B763E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2620</TotalTime>
  <Words>2139</Words>
  <Application>Microsoft Office PowerPoint</Application>
  <PresentationFormat>A4 210 x 297 mm</PresentationFormat>
  <Paragraphs>270</Paragraphs>
  <Slides>37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37</vt:i4>
      </vt:variant>
    </vt:vector>
  </HeadingPairs>
  <TitlesOfParts>
    <vt:vector size="40" baseType="lpstr">
      <vt:lpstr>游ゴシック</vt:lpstr>
      <vt:lpstr>Arial</vt:lpstr>
      <vt:lpstr>1_Office テーマ</vt:lpstr>
      <vt:lpstr>人間とAIの仕事を設計する</vt:lpstr>
      <vt:lpstr>PowerPoint プレゼンテーション</vt:lpstr>
      <vt:lpstr>PowerPoint プレゼンテーション</vt:lpstr>
      <vt:lpstr>事例1 ドキュメント同期パイプライン</vt:lpstr>
      <vt:lpstr>何をしたかったか？</vt:lpstr>
      <vt:lpstr>制約：何を気にする必要があったか</vt:lpstr>
      <vt:lpstr>何を作った？　 ①ローカルからGrowiを更新するためのCLIツール</vt:lpstr>
      <vt:lpstr>何を作った？ ②PUSHしたらGrowiに同期する Github Actions</vt:lpstr>
      <vt:lpstr>何が良かったか？</vt:lpstr>
      <vt:lpstr>作り方を作る　エンジニアリング エンジニアリング</vt:lpstr>
      <vt:lpstr>事例2　AIレビューワークフロー</vt:lpstr>
      <vt:lpstr>AIレビューアンチパターン</vt:lpstr>
      <vt:lpstr>コードレビューとはなにか</vt:lpstr>
      <vt:lpstr>ワークフローの全体像</vt:lpstr>
      <vt:lpstr>卍俺流最強レビューワークフロー卍：実践</vt:lpstr>
      <vt:lpstr>実践例：差分ナビゲーション</vt:lpstr>
      <vt:lpstr>実践例：差分ナビゲーション</vt:lpstr>
      <vt:lpstr>実践例：差分ナビゲーション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実践例：レビュー</vt:lpstr>
      <vt:lpstr>ワークフローの全体像</vt:lpstr>
      <vt:lpstr>人間の責任　AIへの責任委譲</vt:lpstr>
      <vt:lpstr>結び: 人間が引き受けるべきこと</vt:lpstr>
      <vt:lpstr>判断（Judgment）と 演算（Reckoning）</vt:lpstr>
      <vt:lpstr>Brian Cantwell Smith って何者？</vt:lpstr>
      <vt:lpstr>枠組み: 判断（Judgment）と演算（Reckoning）</vt:lpstr>
      <vt:lpstr>結び: 人間が引き受けるべきこと</vt:lpstr>
      <vt:lpstr>枠組み: 判断（Judgment）と演算（Reckoning）</vt:lpstr>
      <vt:lpstr>今日話した2つの仕組み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松本　紗規子</dc:creator>
  <cp:lastModifiedBy>森 大樹</cp:lastModifiedBy>
  <cp:revision>1063</cp:revision>
  <cp:lastPrinted>2021-05-06T02:35:10Z</cp:lastPrinted>
  <dcterms:created xsi:type="dcterms:W3CDTF">2020-11-02T06:12:12Z</dcterms:created>
  <dcterms:modified xsi:type="dcterms:W3CDTF">2026-04-06T01:51:14Z</dcterms:modified>
</cp:coreProperties>
</file>